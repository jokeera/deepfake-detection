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Техническая подготовка к защите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ACC"/>
                </a:solidFill>
                <a:latin typeface="Calibri"/>
              </a:defRPr>
            </a:pPr>
            <a:r>
              <a:t>Dual-Path Temporal-Spatial Deepfake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НИЯУ МИФИ  |  Магистерская диссертация  |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4572000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6C00"/>
                </a:solidFill>
                <a:latin typeface="Calibri"/>
              </a:defRPr>
            </a:pPr>
            <a:r>
              <a:t>ПРИВАТНЫЙ документ для подготовки к ответам на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Содержит: тайминг речи, ключевые числа, FAQ, чек-лист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Речь на защиту — тайминг (7 минут)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46304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0:00 — 0:30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914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Актуальность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9144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Deepfake угрозы, масштаб проблемы, реальные случаи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9144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7ACC"/>
                </a:solidFill>
                <a:latin typeface="Calibri"/>
              </a:defRPr>
            </a:pPr>
            <a:r>
              <a:t>30 сек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146304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0:30 — 1:30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00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002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Ограничения покадровых методов, мотивация temporal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6002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007ACC"/>
                </a:solidFill>
                <a:latin typeface="Calibri"/>
              </a:defRPr>
            </a:pPr>
            <a:r>
              <a:t>60 сек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463040" cy="5029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1:30 — 2:30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286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Обзор литературы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5 ключевых ограничений существующих подходов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2860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EA043"/>
                </a:solidFill>
                <a:latin typeface="Calibri"/>
              </a:defRPr>
            </a:pPr>
            <a:r>
              <a:t>60 сек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1463040" cy="5029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2:30 — 4:00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971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Предлагаемый метод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718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Dual-path архитектура, frame differences, adaptive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9718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2EA043"/>
                </a:solidFill>
                <a:latin typeface="Calibri"/>
              </a:defRPr>
            </a:pPr>
            <a:r>
              <a:t>90 сек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1463040" cy="502920"/>
          </a:xfrm>
          <a:prstGeom prst="round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4:00 — 5:00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657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Протокол обучения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6576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Warmup → unfreeze, learning rates, AMP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6576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6C00"/>
                </a:solidFill>
                <a:latin typeface="Calibri"/>
              </a:defRPr>
            </a:pPr>
            <a:r>
              <a:t>60 сек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43400"/>
            <a:ext cx="1463040" cy="502920"/>
          </a:xfrm>
          <a:prstGeom prst="round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5:00 — 6:00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343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Результаты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3434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Таблицы AUC/F1, ablation study (4 конфигурации)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43434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6C00"/>
                </a:solidFill>
                <a:latin typeface="Calibri"/>
              </a:defRPr>
            </a:pPr>
            <a:r>
              <a:t>60 сек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029200"/>
            <a:ext cx="1463040" cy="50292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6:00 — 6:30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029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Научная новизна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0292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Вклад + практическая значимость (Flask MVP)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50292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3333"/>
                </a:solidFill>
                <a:latin typeface="Calibri"/>
              </a:defRPr>
            </a:pPr>
            <a:r>
              <a:t>30 сек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15000"/>
            <a:ext cx="1463040" cy="50292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6:30 — 7:00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715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Calibri"/>
              </a:defRPr>
            </a:pPr>
            <a:r>
              <a:t>Заключение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7150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Ограничения, направления развития, итог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57150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3333"/>
                </a:solidFill>
                <a:latin typeface="Calibri"/>
              </a:defRPr>
            </a:pPr>
            <a:r>
              <a:t>30 сек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77295" cy="27432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E06C00"/>
                </a:solidFill>
                <a:latin typeface="Calibri"/>
              </a:defRPr>
            </a:pPr>
            <a:r>
              <a:t>Совет: самая длинная часть — описание метода (90 сек). Репетируйте её отдельно.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Ключевые числа — шпаргалка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5577840" cy="27432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007ACC"/>
                </a:solidFill>
                <a:latin typeface="Calibri"/>
              </a:defRPr>
            </a:pPr>
            <a:r>
              <a:t>Архитектура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EfficientNet-B4 (spatial):  19M params, 224×224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EfficientNet-B0 (temporal):  5.3M params, 128×128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Transformer:  2 layers, 4 heads, d_model=256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T=16 frames,  T-1=15 frame differences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007ACC"/>
                </a:solidFill>
                <a:latin typeface="Calibri"/>
              </a:defRPr>
            </a:pPr>
            <a:r>
              <a:t>Total params:  ~26.6M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822960"/>
            <a:ext cx="5577840" cy="27432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86868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2EA043"/>
                </a:solidFill>
                <a:latin typeface="Calibri"/>
              </a:defRPr>
            </a:pPr>
            <a:r>
              <a:t>Dataset &amp; Training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DFDC Part 02:  3292 видео (1694 fake / 1598 real)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Split:  2303 / 493 / 496 (train/val/test), seed=42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Optimizer:  AdamW, LR 1e-4 / 3e-4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Batch:  16 (effective), 30 epochs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1" i="0">
                <a:solidFill>
                  <a:srgbClr val="2EA043"/>
                </a:solidFill>
                <a:latin typeface="Calibri"/>
              </a:defRPr>
            </a:pPr>
            <a:r>
              <a:t>Hardware:  Kaggle P100 16GB, AMP FP16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749039"/>
            <a:ext cx="11430000" cy="2560320"/>
          </a:xfrm>
          <a:prstGeom prst="roundRect">
            <a:avLst/>
          </a:prstGeom>
          <a:solidFill>
            <a:srgbClr val="FDF0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E06C00"/>
                </a:solidFill>
                <a:latin typeface="Calibri"/>
              </a:defRPr>
            </a:pPr>
            <a:r>
              <a:t>Результаты (запомнить!)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  <a:latin typeface="Consolas"/>
              </a:defRPr>
            </a:pPr>
            <a:r>
              <a:t>  Full (dual-path + transformer + adaptive fusion):   AUC 0.9777  |  Acc 92.53%  |  F1 0.9201  |  EER 7.49%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  <a:latin typeface="Consolas"/>
              </a:defRPr>
            </a:pPr>
            <a:r>
              <a:t>  Spatial-only (EfficientNet-B4):   AUC 0.9835  |  Acc 92.73%  |  F1 0.9250  |  EER 6.06%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  <a:latin typeface="Consolas"/>
              </a:defRPr>
            </a:pPr>
            <a:r>
              <a:t>  Temporal-only (EfficientNet-B0 + Transformer):   AUC 0.9655  |  Acc 91.52%  |  F1 0.9075  |  EER 9.50%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  <a:latin typeface="Consolas"/>
              </a:defRPr>
            </a:pPr>
            <a:r>
              <a:t>  Sequential (CNN → BiLSTM):   AUC 0.9715  |  Acc 91.72%  |  F1 0.9130  |  EER 7.87%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Почему spatial-only показывает лучший AUC чем full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При in-domain evaluation пространственные артефакты доминируют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DFDC subset создан ограниченным числом генеративных методов → spatial patterns повторяются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Dual-path advantage ожидается при cross-dataset evaluation: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Пространственные артефакты менее стабильны при смене генеративного метода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Temporal признаки (дрейф, мерцание) более универсальны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Аналогичный результат в DeepfakeBench: spatial лидирует in-domain, проигрывает при generalization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Dual-path обеспечивает fallback: если spatial не видит артефакт, temporal может его обнаружить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Разница AUC: 0.9835 vs 0.9777 = 0.0058 — статистически незначительна на 496 видео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Почему frame differences, а не optical flow?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Optical flow: точнее моделирует движение, НО теряет цветовую информацию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Артефакты deepfake часто проявляются именно в цвете (color bleeding, boundary artifacts)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Frame differences: явно кодируют межкадровые изменения + сохраняют RGB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Вычислительно бесплатно: простое вычитание vs итеративный алгоритм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Для deepfake detection важнее обнаружить 'что изменилось' чем 'куда двигалось'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Yan et al. (CVPR 2025): FFD наиболее выражен в разностных изображениях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Optical flow можно добавить как third branch — направление развития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Почему не использовали cross-dataset evaluation?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Ограниченный бюджет GPU: Kaggle предоставляет 30 часов/неделю на P100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Один полный цикл (4 эксперимента × 30 эпох) = 8-12 GPU-часов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Cross-dataset = дополнительные прогоны inference на FF++, Celeb-DF-v2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Приоритет: ablation study &gt; cross-dataset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Для ВКР важнее показать вклад каждого компонента архитектуры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Ablation с 4 конфигурациями даёт научную ценность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Явно указано как ограничение и первое направление развития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Архитектура спроектирована для cross-dataset (temporal branch)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Обоснование выбора EfficientNet как backbone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Стандарт де-факто в deepfake detection: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Победители DFDC Challenge использовали EfficientNet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DeepfakeBench: EfficientNet как baseline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Compound scaling: одновременная оптимизация depth/width/resolution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B4 (spatial): 19M params — достаточная ёмкость для тонких артефактов при T=16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B0 (temporal): 5.3M params — frame differences проще RGB → не нужна тяжёлая модель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Помещается на P100 16GB при batch=16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Альтернативы и почему нет: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XceptionNet: 22.9M params, нет compound scaling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ResNet-50: 25.6M params, худшее соотношение accuracy/params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ViT: требует больше данных, ~2300 видео недостаточно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Почему Transformer, а не LSTM для temporal aggregation?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T-1 = 15 элементов → O(T^2) = 225 пар, вычислительно тривиально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LSTM: последовательная обработка, теряет дальние зависимости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Задача: найти несоответствия между ЛЮБЫМИ парами переходов (кадр 1 ↔ 15)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Transformer: глобальное внимание, все пары одновременно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Бонус: attention maps для интерпретируемости (какие переходы подозрительны)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Ablation подтверждает: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Sequential (CNN → BiLSTM): AUC 0.9715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Full (CNN + Transformer):  AUC 0.9777  (+0.0062)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2 layers, 4 heads: минимальная архитектура, достаточная для T=15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Adaptive fusion — почему не простой concat?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Concat: простейший вариант, не учитывает относительную важность ветвей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Adaptive weighted fusion: alpha_1 + alpha_2 = 1 (через softmax)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Интерпретируемость: для каждого видео видно какая ветвь доминирует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Можно анализировать: для каких типов deepfake важнее spatial vs temporal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Gated fusion: сложнее, добавляет параметры, менее интерпретируемо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A5 (concat) и A6 (gate) запланированы для полного ablation study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Adaptive fusion добавляет только 2 learnable параметра (минимальный overhead)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Как обеспечивается воспроизводимость?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Фиксированный seed = 42 (PyTorch, NumPy, Python random, CUDA)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torch.use_deterministic_algorithms(True)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torch.backends.cudnn.benchmark = False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Video-ID based split: нет утечки кадров одного видео между splits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Все гиперпараметры в config.py (78+ параметров, единый source of truth)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requirements.txt с фиксированными версиями пакетов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Dockerfile для контейнеризации (полная изоляция среды)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Инструкция по воспроизведению в Приложении В диссертации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Код доступен в GitHub репозитории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Что такое video-level split и зачем он нужен?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Frame-level split: кадры одного видео могут попасть в train И test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Это = утечка данных (data leakage), модель 'запоминает' видео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Video-level split: ВСЕ кадры одного видео только в одном split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Стратификация по классам сохраняет пропорции fake/real в каждом split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Без video-level split AUC завышается на 5-10%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Модель видит похожие кадры в train → завышенная метрика на test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Это стандартная практика, но часто игнорируется в слабых работах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Реализовано через group_by video_id в стратифицированном split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Зачем warmup + unfreeze протокол?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Backbone (ImageNet pretrained) содержит качественные низкоуровневые признаки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Temporal branch, fusion module, classification head — случайная инициализация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Без warmup: большие градиенты от random layers → catastrophic forgetting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Pretrained representations разрушаются в первые эпохи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Фаза 1 — Warmup (5 эпох):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Backbone заморожен, обучаются только новые компоненты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LR: spatial head 1e-4, temporal components 3e-4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Фаза 2 — Unfreeze (эпохи 6-30):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Размораживаются 2 последних блока backbone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Доменная адаптация высокоуровневых признаков к deepfake features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Почему не все блоки: риск переобучения на ~2300 видео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Как работает Flask MVP?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Pipeline: Upload video → MTCNN face detection → frame extraction → inference → verdict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Двуязычный интерфейс (RU/EN)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Поддерживает два режима: raw video и preprocessed frames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Fallback устройств: CUDA → MPS (Apple Silicon) → CPU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Результат: вероятность deepfake + вердикт (real/fake)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Ограничения (осознанные, это MVP):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Один запрос за раз (без async)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Одно лицо на видео (без multi-face tracking)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Не production-ready (нет rate limiting, auth, etc.)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Цель: демонстрация практической применимости метода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Почему batch_size=16, а не больше?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Каждый sample в памяти: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16 RGB frames × 224×224×3 (spatial) = ~18.4 MB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15 diff frames × 128×128×3 (temporal) = ~3.5 MB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+ activations, gradients, optimizer states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При batch=16: ~14 GB VRAM на P100 (максимум 16 GB)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Batch=32 вызывает OOM (Out of Memory)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AMP (Automatic Mixed Precision, FP16) включено для экономии памяти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NaN guard добавлен для стабильности AMP при overflow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Effective batch=16 достаточен: AdamW менее чувствителен к batch size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Альтернатива: gradient accumulation (не потребовалось)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Как метод работает с диффузионными моделями (Sora, Veo)?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Текущий метод обучен на DFDC (преимущественно GAN-based deepfakes)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Диффузионные модели генерируют контент принципиально другого характера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Другой generative process → другие артефакты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Гипотеза: temporal branch может быть более устойчив к смене генеративного метода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GAN и diffusion deepfakes оба имеют temporal inconsistencies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Пространственные артефакты меняются сильнее между методами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Прямая верификация — направление дальнейших исследований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Литература: cross-method generalization — нерешённая проблема в field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Наш dual-path дизайн создан именно для этой задачи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Возможные вопросы #13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E06C00"/>
                </a:solidFill>
                <a:latin typeface="Calibri"/>
              </a:defRPr>
            </a:pPr>
            <a:r>
              <a:t>Q: EER — что это и зачем? (Equal Error Rate)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Ответ: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EER = точка на ROC-кривой, где FPR = FNR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FPR: ложные срабатывания (real → classified as fake)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FNR: пропуски (fake → classified as real)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Чем ниже EER, тем лучше (0 = идеальная модель)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Результаты по моделям: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Full model:   EER = 7.49%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Spatial-only:  EER = 6.06%  (лучший)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Temporal-only: EER = 9.50%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  Sequential:    EER = 7.87%</a:t>
            </a:r>
          </a:p>
          <a:p>
            <a:pPr>
              <a:spcAft>
                <a:spcPts val="400"/>
              </a:spcAft>
              <a:defRPr sz="1200" b="1">
                <a:solidFill>
                  <a:srgbClr val="222222"/>
                </a:solidFill>
                <a:latin typeface="Calibri"/>
              </a:defRPr>
            </a:pPr>
            <a:r>
              <a:t>  Дополняет AUC: показывает конкретный уровень ошибок при оптимальном пороге</a:t>
            </a:r>
          </a:p>
          <a:p>
            <a:pPr>
              <a:spcAft>
                <a:spcPts val="400"/>
              </a:spcAft>
              <a:defRPr sz="1200" b="0">
                <a:solidFill>
                  <a:srgbClr val="222222"/>
                </a:solidFill>
                <a:latin typeface="Calibri"/>
              </a:defRPr>
            </a:pPr>
            <a:r>
              <a:t>  Полезно для практического применения: 'модель ошибается в X% случаев'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Сводная таблица результатов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9144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280160"/>
                <a:gridCol w="1280160"/>
                <a:gridCol w="1280160"/>
                <a:gridCol w="1280160"/>
                <a:gridCol w="192024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Конфигурация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EER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Описание</a:t>
                      </a:r>
                    </a:p>
                  </a:txBody>
                  <a:tcPr>
                    <a:solidFill>
                      <a:srgbClr val="00528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A1: Full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Calibri"/>
                        </a:defRPr>
                      </a:pPr>
                      <a:r>
                        <a:t>0.9777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Calibri"/>
                        </a:defRPr>
                      </a:pPr>
                      <a:r>
                        <a:t>92.53%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Calibri"/>
                        </a:defRPr>
                      </a:pPr>
                      <a:r>
                        <a:t>0.9201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Calibri"/>
                        </a:defRPr>
                      </a:pPr>
                      <a:r>
                        <a:t>7.49%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Calibri"/>
                        </a:defRPr>
                      </a:pPr>
                      <a:r>
                        <a:t>Dual-path + Transformer + Adaptive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A2: Spatial-only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0.9835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92.73%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0.9250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6.06%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EfficientNet-B4 only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A3: Temporal-only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91.52%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EfficientNet-B0 + Transformer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A4: Sequential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0.9715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91.72%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0.9130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7.87%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CNN features → BiLSTM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 i="0">
                <a:solidFill>
                  <a:srgbClr val="007ACC"/>
                </a:solidFill>
                <a:latin typeface="Calibri"/>
              </a:defRPr>
            </a:pPr>
            <a:r>
              <a:t>Ключевые выводы из ablation study: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1. Spatial-only лидирует in-domain (AUC 0.9835) — пространственные артефакты доминируют в DFDC subset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2. Full model (0.9777) &gt; Sequential (0.9715): Transformer лучше BiLSTM для temporal aggregation (+0.62%)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3. Temporal-only (0.9655): подтверждает что frame differences содержат детектируемые артефакты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4. Full model обеспечивает complementary detection: разные ветви реагируют на разные типы артефактов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Чек-лист перед защитой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303520" cy="41148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600" b="1" i="0">
                <a:solidFill>
                  <a:srgbClr val="007ACC"/>
                </a:solidFill>
                <a:latin typeface="Calibri"/>
              </a:defRPr>
            </a:pPr>
            <a:r>
              <a:t>Документы и материалы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Распечатать ВКР (2 экземпляра)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Подготовить раздаточный материал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Презентация на флешке (резерв)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Отзыв научного руководителя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Рецензия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Справка Антиплагиат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Зачётная книжка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486400" cy="4114800"/>
          </a:xfrm>
          <a:prstGeom prst="roundRect">
            <a:avLst/>
          </a:prstGeom>
          <a:solidFill>
            <a:srgbClr val="E8F4E8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058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600" b="1" i="0">
                <a:solidFill>
                  <a:srgbClr val="2EA043"/>
                </a:solidFill>
                <a:latin typeface="Calibri"/>
              </a:defRPr>
            </a:pPr>
            <a:r>
              <a:t>Техническая подготовка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Проверить презентацию на проекторе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Таймер на 7 минут (телефон)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Прогнать речь 2-3 раза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Проверить переходы между слайдами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Выучить ключевые числа (слайд 3)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Прорепетировать ответы на вопросы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222222"/>
                </a:solidFill>
                <a:latin typeface="Calibri"/>
              </a:defRPr>
            </a:pPr>
            <a:r>
              <a:t>  ☐  Вода на столе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212080"/>
            <a:ext cx="11247120" cy="13716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 i="0">
                <a:solidFill>
                  <a:srgbClr val="E06C00"/>
                </a:solidFill>
                <a:latin typeface="Calibri"/>
              </a:defRPr>
            </a:pPr>
            <a:r>
              <a:t>Советы: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  - На вопрос 'почему spatial лучше full?' — не оправдывайтесь, объясняйте in-domain vs cross-dataset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  - Если не знаете ответ: 'Это интересный вопрос, в рамках данной работы мы..., но это направление дальнейших исследований'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 i="0">
                <a:solidFill>
                  <a:srgbClr val="222222"/>
                </a:solidFill>
                <a:latin typeface="Calibri"/>
              </a:defRPr>
            </a:pPr>
            <a:r>
              <a:t>  - Говорите уверенно: вы знаете свою работу лучше всех в зале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