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8" r:id="rId19"/>
    <p:sldId id="269" r:id="rId20"/>
    <p:sldId id="270" r:id="rId21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НАЦИОНАЛЬНЫЙ ИССЛЕДОВАТЕЛЬСКИЙ ЯДЕРНЫЙ УНИВЕРСИТЕТ «МИФИ»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BCCDD"/>
                </a:solidFill>
              </a:defRPr>
            </a:pPr>
            <a:r>
              <a:t>Институт интеллектуальных кибернетических систем</a:t>
            </a:r>
            <a:br/>
            <a:r>
              <a:t>Кафедра кибернетики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920240"/>
            <a:ext cx="6675120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BCCDD"/>
                </a:solidFill>
              </a:defRPr>
            </a:pPr>
            <a:r>
              <a:t>ВЫПУСКНАЯ КВАЛИФИКАЦИОННАЯ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Метод выявления манипулированных видео на основе пространственно-временного анализа: детектирование подмены лиц и синтетических видеопоследовательностей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7548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DDDDD"/>
                </a:solidFill>
              </a:defRPr>
            </a:pPr>
            <a:r>
              <a:t>Студент: ___________________________</a:t>
            </a:r>
          </a:p>
          <a:p>
            <a:pPr>
              <a:spcBef>
                <a:spcPts val="1000"/>
              </a:spcBef>
              <a:defRPr sz="1600">
                <a:solidFill>
                  <a:srgbClr val="DDDDDD"/>
                </a:solidFill>
              </a:defRPr>
            </a:pPr>
            <a:r>
              <a:t>Научный руководитель: 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CCDD"/>
                </a:solidFill>
              </a:defRPr>
            </a:pPr>
            <a:r>
              <a:t>Москва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Актуальность и 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003366"/>
                </a:solidFill>
              </a:defRPr>
            </a:pPr>
            <a:r>
              <a:t>Deepfake — реалистичные синтетические видео (face swap, reenactment, lip-sync)</a:t>
            </a:r>
          </a:p>
          <a:p>
            <a:pPr lvl="1"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Угрозы: дезинформация, мошенничество, шантаж, подрыв доверия к видеоконтенту</a:t>
            </a:r>
          </a:p>
          <a:p>
            <a:pPr>
              <a:spcBef>
                <a:spcPts val="1800"/>
              </a:spcBef>
              <a:defRPr sz="1800" b="1">
                <a:solidFill>
                  <a:srgbClr val="003366"/>
                </a:solidFill>
              </a:defRPr>
            </a:pPr>
            <a:r>
              <a:t>Покадровые детекторы (XceptionNet, EfficientNet):</a:t>
            </a:r>
          </a:p>
          <a:p>
            <a:pPr lvl="1"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AUC 99%+ in-domain, но падение на 15-25% при cross-dataset оценке</a:t>
            </a:r>
          </a:p>
          <a:p>
            <a:pPr lvl="1"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Пространственные артефакты нестабильны при смене метода генерации</a:t>
            </a:r>
          </a:p>
          <a:p>
            <a:pPr>
              <a:spcBef>
                <a:spcPts val="1800"/>
              </a:spcBef>
              <a:defRPr sz="1800" b="1">
                <a:solidFill>
                  <a:srgbClr val="CC5500"/>
                </a:solidFill>
              </a:defRPr>
            </a:pPr>
            <a:r>
              <a:t>Ключевой пробел:</a:t>
            </a:r>
          </a:p>
          <a:p>
            <a:pPr lvl="1">
              <a:spcBef>
                <a:spcPts val="600"/>
              </a:spcBef>
              <a:defRPr sz="1700" b="0">
                <a:solidFill>
                  <a:srgbClr val="003366"/>
                </a:solidFill>
              </a:defRPr>
            </a:pPr>
            <a:r>
              <a:t>Временные признаки (межкадровая динамика) — недостаточно исследованный сигнал</a:t>
            </a:r>
          </a:p>
          <a:p>
            <a:pPr lvl="1"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Большинство методов рассматривают кадры независимо или используют последовательный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Цель и задачи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2000" b="1">
                <a:solidFill>
                  <a:srgbClr val="003366"/>
                </a:solidFill>
              </a:defRPr>
            </a:pPr>
            <a:r>
              <a:t>Цель:</a:t>
            </a:r>
          </a:p>
          <a:p>
            <a:pPr>
              <a:spcBef>
                <a:spcPts val="400"/>
              </a:spcBef>
              <a:defRPr sz="1700" b="0">
                <a:solidFill>
                  <a:srgbClr val="000000"/>
                </a:solidFill>
              </a:defRPr>
            </a:pPr>
            <a:r>
              <a:t>Разработка метода детектирования манипулированных видео на основе параллельного пространственно-временного анализа</a:t>
            </a:r>
          </a:p>
          <a:p>
            <a:pPr>
              <a:spcBef>
                <a:spcPts val="2400"/>
              </a:spcBef>
              <a:defRPr sz="2000" b="1">
                <a:solidFill>
                  <a:srgbClr val="003366"/>
                </a:solidFill>
              </a:defRPr>
            </a:pPr>
            <a:r>
              <a:t>Задачи: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1.  Анализ существующих методов детектирования deepfake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2.  Исследование пространственных и временных признаков манипуляций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3.  Разработка dual-path архитектуры с параллельными ветвями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4.  Программная реализация и обучение модели</a:t>
            </a:r>
          </a:p>
          <a:p>
            <a:pPr>
              <a:spcBef>
                <a:spcPts val="800"/>
              </a:spcBef>
              <a:defRPr sz="1700" b="0">
                <a:solidFill>
                  <a:srgbClr val="000000"/>
                </a:solidFill>
              </a:defRPr>
            </a:pPr>
            <a:r>
              <a:t>5.  Экспериментальная оценка (ablation study по компонентам)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Обзор существующих подходов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003366"/>
                </a:solidFill>
              </a:defRPr>
            </a:pPr>
            <a:r>
              <a:t>Покадровые методы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XceptionNet, EfficientNet-B4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Высокая in-domain AUC (~99%)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CC5500"/>
                </a:solidFill>
              </a:defRPr>
            </a:pPr>
            <a:r>
              <a:t>Плохая обобщающая способность</a:t>
            </a:r>
          </a:p>
          <a:p>
            <a:pPr>
              <a:spcBef>
                <a:spcPts val="1800"/>
              </a:spcBef>
              <a:defRPr sz="1800" b="1">
                <a:solidFill>
                  <a:srgbClr val="003366"/>
                </a:solidFill>
              </a:defRPr>
            </a:pPr>
            <a:r>
              <a:t>Последовательные (CNN→LSTM)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Temporal зависит от spatial encoder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CC5500"/>
                </a:solidFill>
              </a:defRPr>
            </a:pPr>
            <a:r>
              <a:t>Ошибки spatial каскадируются</a:t>
            </a:r>
          </a:p>
          <a:p>
            <a:pPr>
              <a:spcBef>
                <a:spcPts val="1800"/>
              </a:spcBef>
              <a:defRPr sz="1800" b="1">
                <a:solidFill>
                  <a:srgbClr val="003366"/>
                </a:solidFill>
              </a:defRPr>
            </a:pPr>
            <a:r>
              <a:t>3D CNN (AltFreezing, I3D)</a:t>
            </a:r>
          </a:p>
          <a:p>
            <a:pPr lvl="1"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Неразделимость вкладов spatial/temporal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475488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5 ключевых ограничений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1. Зависимость от dataset-specific артефактов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2. Последовательная обработка (spatial→temporal)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3. Неявное кодирование временных признаков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4. Неразделимость вклада компонентов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5. Отсутствие интерпретируемого слияния</a:t>
            </a:r>
          </a:p>
          <a:p>
            <a:pPr>
              <a:spcBef>
                <a:spcPts val="2000"/>
              </a:spcBef>
              <a:defRPr sz="1700" b="1">
                <a:solidFill>
                  <a:srgbClr val="CC5500"/>
                </a:solidFill>
              </a:defRPr>
            </a:pPr>
            <a:r>
              <a:t>→ Мотивация: dual-path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Предлагаемый метод: 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926080"/>
            <a:ext cx="1097280" cy="64008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Video</a:t>
            </a:r>
            <a:br/>
            <a:r>
              <a:t>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3127248"/>
            <a:ext cx="411479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926080"/>
            <a:ext cx="1188720" cy="640080"/>
          </a:xfrm>
          <a:prstGeom prst="roundRect">
            <a:avLst/>
          </a:prstGeom>
          <a:solidFill>
            <a:srgbClr val="0055A4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MTCNN</a:t>
            </a:r>
            <a:br/>
            <a:r>
              <a:t>Face Detection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3127248"/>
            <a:ext cx="411479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926080"/>
            <a:ext cx="914400" cy="640080"/>
          </a:xfrm>
          <a:prstGeom prst="roundRect">
            <a:avLst/>
          </a:prstGeom>
          <a:solidFill>
            <a:srgbClr val="4477A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T=16</a:t>
            </a:r>
            <a:br/>
            <a:r>
              <a:t>Frames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34840" y="2103120"/>
            <a:ext cx="41148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1371600"/>
            <a:ext cx="1645920" cy="64008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EfficientNet-B4</a:t>
            </a:r>
            <a:br/>
            <a:r>
              <a:t>(per frame)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37960" y="1572768"/>
            <a:ext cx="320039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1371600"/>
            <a:ext cx="1188720" cy="640080"/>
          </a:xfrm>
          <a:prstGeom prst="roundRect">
            <a:avLst/>
          </a:prstGeom>
          <a:solidFill>
            <a:srgbClr val="4477A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Mean</a:t>
            </a:r>
            <a:br/>
            <a:r>
              <a:t>Pooling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92440" y="1572768"/>
            <a:ext cx="27432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1371600"/>
            <a:ext cx="1097280" cy="640080"/>
          </a:xfrm>
          <a:prstGeom prst="roundRect">
            <a:avLst/>
          </a:prstGeom>
          <a:solidFill>
            <a:srgbClr val="0055A4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Projection</a:t>
            </a:r>
            <a:br/>
            <a:r>
              <a:t>(512-d)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Spatial Branch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34840" y="4206240"/>
            <a:ext cx="41148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46320" y="3931920"/>
            <a:ext cx="1371600" cy="640080"/>
          </a:xfrm>
          <a:prstGeom prst="roundRect">
            <a:avLst/>
          </a:prstGeom>
          <a:solidFill>
            <a:srgbClr val="8855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Frame</a:t>
            </a:r>
            <a:br/>
            <a:r>
              <a:t>Differences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263640" y="4133087"/>
            <a:ext cx="27432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931920"/>
            <a:ext cx="1371600" cy="640080"/>
          </a:xfrm>
          <a:prstGeom prst="roundRect">
            <a:avLst/>
          </a:prstGeom>
          <a:solidFill>
            <a:srgbClr val="AA66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EfficientNet-B0</a:t>
            </a:r>
            <a:br/>
            <a:r>
              <a:t>(per diff)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55279" y="4133087"/>
            <a:ext cx="27432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3749039"/>
            <a:ext cx="1463040" cy="914400"/>
          </a:xfrm>
          <a:prstGeom prst="roundRect">
            <a:avLst/>
          </a:prstGeom>
          <a:solidFill>
            <a:srgbClr val="8855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Transformer</a:t>
            </a:r>
            <a:br/>
            <a:r>
              <a:t>2L, 4H</a:t>
            </a:r>
            <a:br/>
            <a:r>
              <a:t>[CLS]→(512-d)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11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85500"/>
                </a:solidFill>
              </a:defRPr>
            </a:pPr>
            <a:r>
              <a:t>Temporal Branch</a:t>
            </a:r>
          </a:p>
        </p:txBody>
      </p:sp>
      <p:sp>
        <p:nvSpPr>
          <p:cNvPr id="25" name="Right Arrow 24"/>
          <p:cNvSpPr/>
          <p:nvPr/>
        </p:nvSpPr>
        <p:spPr>
          <a:xfrm rot="19500000">
            <a:off x="4023360" y="1965960"/>
            <a:ext cx="82296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 rot="2100000">
            <a:off x="4023360" y="4023360"/>
            <a:ext cx="822960" cy="228600"/>
          </a:xfrm>
          <a:prstGeom prst="rightArrow">
            <a:avLst/>
          </a:prstGeom>
          <a:solidFill>
            <a:srgbClr val="AA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560320"/>
            <a:ext cx="1188720" cy="1097280"/>
          </a:xfrm>
          <a:prstGeom prst="roundRect">
            <a:avLst/>
          </a:prstGeom>
          <a:solidFill>
            <a:srgbClr val="007744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Adaptive</a:t>
            </a:r>
            <a:br/>
            <a:r>
              <a:t>Weighted</a:t>
            </a:r>
            <a:br/>
            <a:r>
              <a:t>Fusion</a:t>
            </a:r>
            <a:br/>
            <a:r>
              <a:t>α_s + α_t = 1</a:t>
            </a:r>
          </a:p>
        </p:txBody>
      </p:sp>
      <p:sp>
        <p:nvSpPr>
          <p:cNvPr id="28" name="Right Arrow 27"/>
          <p:cNvSpPr/>
          <p:nvPr/>
        </p:nvSpPr>
        <p:spPr>
          <a:xfrm rot="1800000">
            <a:off x="9144000" y="2011680"/>
            <a:ext cx="914400" cy="18288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 rot="19800000">
            <a:off x="9326880" y="4023360"/>
            <a:ext cx="822960" cy="182880"/>
          </a:xfrm>
          <a:prstGeom prst="rightArrow">
            <a:avLst/>
          </a:prstGeom>
          <a:solidFill>
            <a:srgbClr val="AA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10927080" y="2971800"/>
            <a:ext cx="320040" cy="228600"/>
          </a:xfrm>
          <a:prstGeom prst="rightArrow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247120" y="2697480"/>
            <a:ext cx="731520" cy="731520"/>
          </a:xfrm>
          <a:prstGeom prst="roundRect">
            <a:avLst/>
          </a:prstGeom>
          <a:solidFill>
            <a:srgbClr val="CC000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P(fake|V)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003366"/>
                </a:solidFill>
              </a:defRPr>
            </a:pPr>
            <a:r>
              <a:t>Ключевое свойство: параллельность ветвей, explicit temporal input (frame differences), интерпретируемое слияние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Ключевые архитектурные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12064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Temporal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5A4"/>
                </a:solidFill>
              </a:defRPr>
            </a:pPr>
            <a:r>
              <a:t>Frame differences vs optical flow vs raw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Компромисс: явное кодирование</a:t>
            </a:r>
            <a:br/>
            <a:r>
              <a:t>темпоральных изменений +</a:t>
            </a:r>
            <a:br/>
            <a:r>
              <a:t>сохранение цветовой информации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280160"/>
            <a:ext cx="512064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1206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Backbone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5A4"/>
                </a:solidFill>
              </a:defRPr>
            </a:pPr>
            <a:r>
              <a:t>EfficientNet-B4 (spatial) vs B0 (temporal)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Разная сложность входных данных:</a:t>
            </a:r>
            <a:br/>
            <a:r>
              <a:t>RGB кадры vs разностные карты</a:t>
            </a:r>
            <a:br/>
            <a:r>
              <a:t>Более лёгкий backbone для temporal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12064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1206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Sequence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5A4"/>
                </a:solidFill>
              </a:defRPr>
            </a:pPr>
            <a:r>
              <a:t>Transformer vs LSTM для temporal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Глобальные зависимости при T-1=15</a:t>
            </a:r>
            <a:br/>
            <a:r>
              <a:t>Self-attention эффективнее</a:t>
            </a:r>
            <a:br/>
            <a:r>
              <a:t>для коротких последовательностей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840480"/>
            <a:ext cx="512064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840480"/>
            <a:ext cx="512064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Fusion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5A4"/>
                </a:solidFill>
              </a:defRPr>
            </a:pPr>
            <a:r>
              <a:t>Adaptive weighted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7548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Интерпретируемость:</a:t>
            </a:r>
            <a:br/>
            <a:r>
              <a:t>α_spatial + α_temporal = 1</a:t>
            </a:r>
            <a:br/>
            <a:r>
              <a:t>Обучаемые веса ветвей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Протокол обучения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900" b="1">
                <a:solidFill>
                  <a:srgbClr val="003366"/>
                </a:solidFill>
              </a:defRPr>
            </a:pPr>
            <a:r>
              <a:t>Данные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DFDC subset: 2303 train / 493 val / 496 test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Разделение по video-ID (без утечки данных)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Clip-consistent augmentation</a:t>
            </a:r>
          </a:p>
          <a:p>
            <a:pPr>
              <a:spcBef>
                <a:spcPts val="2000"/>
              </a:spcBef>
              <a:defRPr sz="1900" b="1">
                <a:solidFill>
                  <a:srgbClr val="003366"/>
                </a:solidFill>
              </a:defRPr>
            </a:pPr>
            <a:r>
              <a:t>Оптимизация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AdamW optimizer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Differential LR: backbone 1e-4, head 3e-4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CosineAnnealing LR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900" b="1">
                <a:solidFill>
                  <a:srgbClr val="003366"/>
                </a:solidFill>
              </a:defRPr>
            </a:pPr>
            <a:r>
              <a:t>Стратегия обучения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Warmup: 5 эпох (замороженный backbone)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Unfreeze: 2 последних блока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Early stopping (patience=7)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AUC как primary metric</a:t>
            </a:r>
          </a:p>
          <a:p>
            <a:pPr>
              <a:spcBef>
                <a:spcPts val="2000"/>
              </a:spcBef>
              <a:defRPr sz="1900" b="1">
                <a:solidFill>
                  <a:srgbClr val="003366"/>
                </a:solidFill>
              </a:defRPr>
            </a:pPr>
            <a:r>
              <a:t>Инфраструктура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Kaggle P100 GPU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30 эпох максимум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Mixed precision (AMP)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Результаты: In-domain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8/15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Метод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Spatial-only (B1)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0.9835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0.9273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Sequential CNN+BiLSTM (B3)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Temporal-only (A3)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0.9655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0.9152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000000"/>
                          </a:solidFill>
                        </a:defRPr>
                      </a:pPr>
                      <a:r>
                        <a:t>0.9075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Предлагаемый dual-path (A1)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0.9777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0.9253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</a:defRPr>
                      </a:pPr>
                      <a:r>
                        <a:t>0.9201</a:t>
                      </a:r>
                    </a:p>
                  </a:txBody>
                  <a:tcPr anchor="ctr">
                    <a:solidFill>
                      <a:srgbClr val="E0EB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3366"/>
                </a:solidFill>
              </a:defRPr>
            </a:pPr>
            <a:r>
              <a:t>Ключевой вывод:</a:t>
            </a:r>
          </a:p>
          <a:p>
            <a:pPr>
              <a:spcBef>
                <a:spcPts val="600"/>
              </a:spcBef>
              <a:defRPr sz="1500" b="0">
                <a:solidFill>
                  <a:srgbClr val="000000"/>
                </a:solidFill>
              </a:defRPr>
            </a:pPr>
            <a:r>
              <a:t>Spatial-only лидирует в in-domain (AUC 0.9835) за счёт dataset-specific артефактов</a:t>
            </a:r>
          </a:p>
          <a:p>
            <a:pPr>
              <a:spcBef>
                <a:spcPts val="600"/>
              </a:spcBef>
              <a:defRPr sz="1500" b="0">
                <a:solidFill>
                  <a:srgbClr val="000000"/>
                </a:solidFill>
              </a:defRPr>
            </a:pPr>
            <a:r>
              <a:t>Dual-path (0.9777) успешно объединяет оба типа сигналов без потери качества</a:t>
            </a:r>
          </a:p>
          <a:p>
            <a:pPr>
              <a:spcBef>
                <a:spcPts val="600"/>
              </a:spcBef>
              <a:defRPr sz="1500" b="1">
                <a:solidFill>
                  <a:srgbClr val="CC5500"/>
                </a:solidFill>
              </a:defRPr>
            </a:pPr>
            <a:r>
              <a:t>Cross-dataset evaluation (DFDC02 → DFD01) подтвердила преимущество dual-path при обобщении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Ablation study и анализ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003366"/>
                </a:solidFill>
              </a:defRPr>
            </a:pPr>
            <a:r>
              <a:t>Ранжирование по AUC: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Spatial-only (0.9835)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Dual-path full (0.9777)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Sequential CNN+BiLSTM (0.9715)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Temporal-only (0.9655)</a:t>
            </a:r>
          </a:p>
          <a:p>
            <a:pPr>
              <a:spcBef>
                <a:spcPts val="2000"/>
              </a:spcBef>
              <a:defRPr sz="1800" b="1">
                <a:solidFill>
                  <a:srgbClr val="003366"/>
                </a:solidFill>
              </a:defRPr>
            </a:pPr>
            <a:r>
              <a:t>Ключевые выводы:</a:t>
            </a:r>
          </a:p>
          <a:p>
            <a:pPr>
              <a:spcBef>
                <a:spcPts val="600"/>
              </a:spcBef>
              <a:defRPr sz="1500" b="0">
                <a:solidFill>
                  <a:srgbClr val="000000"/>
                </a:solidFill>
              </a:defRPr>
            </a:pPr>
            <a:r>
              <a:t>Temporal-only (0.9655) подтверждает:</a:t>
            </a:r>
            <a:br/>
            <a:r>
              <a:t>frame differences — самостоятельный дискриминативный сигнал</a:t>
            </a:r>
          </a:p>
          <a:p>
            <a:pPr>
              <a:spcBef>
                <a:spcPts val="1000"/>
              </a:spcBef>
              <a:defRPr sz="1500" b="0">
                <a:solidFill>
                  <a:srgbClr val="000000"/>
                </a:solidFill>
              </a:defRPr>
            </a:pPr>
            <a:r>
              <a:t>Sequential (0.9715) &lt; Spatial (0.9835):</a:t>
            </a:r>
            <a:br/>
            <a:r>
              <a:t>каскадная обработка ухудшает результат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274320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Валидация гипотез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✓  Временные признаки несут независимую информацию</a:t>
            </a:r>
          </a:p>
          <a:p>
            <a:pPr>
              <a:spcBef>
                <a:spcPts val="800"/>
              </a:spcBef>
              <a:defRPr sz="1500" b="0">
                <a:solidFill>
                  <a:srgbClr val="000000"/>
                </a:solidFill>
              </a:defRPr>
            </a:pPr>
            <a:r>
              <a:t>✓  Параллельная обработка лучше последовательной</a:t>
            </a:r>
          </a:p>
          <a:p>
            <a:pPr>
              <a:spcBef>
                <a:spcPts val="800"/>
              </a:spcBef>
              <a:defRPr sz="1500" b="0">
                <a:solidFill>
                  <a:srgbClr val="000000"/>
                </a:solidFill>
              </a:defRPr>
            </a:pPr>
            <a:r>
              <a:t>✓  Frame differences — эффективная репрезентация</a:t>
            </a:r>
          </a:p>
          <a:p>
            <a:pPr>
              <a:spcBef>
                <a:spcPts val="1200"/>
              </a:spcBef>
              <a:defRPr sz="1500" b="1">
                <a:solidFill>
                  <a:srgbClr val="CC5500"/>
                </a:solidFill>
              </a:defRPr>
            </a:pPr>
            <a:r>
              <a:t>→  Cross-dataset (DFDC02→DFD01): dual-path показал преимущество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94960" cy="1645920"/>
          </a:xfrm>
          <a:prstGeom prst="roundRect">
            <a:avLst/>
          </a:prstGeom>
          <a:solidFill>
            <a:srgbClr val="E8F4E8"/>
          </a:solidFill>
          <a:ln w="19050">
            <a:solidFill>
              <a:srgbClr val="00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389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744"/>
                </a:solidFill>
              </a:defRPr>
            </a:pPr>
            <a:r>
              <a:t>Практическая применимость</a:t>
            </a:r>
          </a:p>
          <a:p>
            <a:pPr>
              <a:spcBef>
                <a:spcPts val="800"/>
              </a:spcBef>
              <a:defRPr sz="1500" b="0">
                <a:solidFill>
                  <a:srgbClr val="000000"/>
                </a:solidFill>
              </a:defRPr>
            </a:pPr>
            <a:r>
              <a:t>Flask MVP: веб-интерфейс для анализа видео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Загрузка видео → детектирование → результат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Научная новизна и практическая значимость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572000"/>
          </a:xfrm>
          <a:prstGeom prst="roundRect">
            <a:avLst/>
          </a:prstGeom>
          <a:solidFill>
            <a:srgbClr val="E8EEF4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Научная новизна</a:t>
            </a:r>
          </a:p>
          <a:p>
            <a:pPr>
              <a:spcBef>
                <a:spcPts val="1600"/>
              </a:spcBef>
              <a:defRPr sz="1500" b="0">
                <a:solidFill>
                  <a:srgbClr val="000000"/>
                </a:solidFill>
              </a:defRPr>
            </a:pPr>
            <a:r>
              <a:t>1.  Параллельная dual-path архитектура с независимыми spatial и temporal ветвями</a:t>
            </a:r>
          </a:p>
          <a:p>
            <a:pPr>
              <a:spcBef>
                <a:spcPts val="1600"/>
              </a:spcBef>
              <a:defRPr sz="1500" b="0">
                <a:solidFill>
                  <a:srgbClr val="000000"/>
                </a:solidFill>
              </a:defRPr>
            </a:pPr>
            <a:r>
              <a:t>2.  Frame differences как явный temporal input (вместо optical flow или raw RGB)</a:t>
            </a:r>
          </a:p>
          <a:p>
            <a:pPr>
              <a:spcBef>
                <a:spcPts val="1600"/>
              </a:spcBef>
              <a:defRPr sz="1500" b="0">
                <a:solidFill>
                  <a:srgbClr val="000000"/>
                </a:solidFill>
              </a:defRPr>
            </a:pPr>
            <a:r>
              <a:t>3.  Систематическая классификация пространственных и временных артефактов deepfake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572000"/>
          </a:xfrm>
          <a:prstGeom prst="roundRect">
            <a:avLst/>
          </a:prstGeom>
          <a:solidFill>
            <a:srgbClr val="E8F4E8"/>
          </a:solidFill>
          <a:ln w="25400">
            <a:solidFill>
              <a:srgbClr val="00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744"/>
                </a:solidFill>
              </a:defRPr>
            </a:pPr>
            <a:r>
              <a:t>Практическая значимость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Воспроизводимый pipeline (PyTorch, open-source код)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Flask MVP для анализа видео через веб-интерфейс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Кроссплатформенность: CUDA, MPS (Apple Silicon), CPU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Модульная архитектура: лёгкая замена компонентов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Полная документация экспериментов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Ограничения и направления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572000"/>
          </a:xfrm>
          <a:prstGeom prst="roundRect">
            <a:avLst/>
          </a:prstGeom>
          <a:solidFill>
            <a:srgbClr val="FDF0E0"/>
          </a:solidFill>
          <a:ln w="254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C5500"/>
                </a:solidFill>
              </a:defRPr>
            </a:pPr>
            <a:r>
              <a:t>Текущие ограничения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Обучение на одном датасете (DFDC subset)</a:t>
            </a:r>
            <a:br/>
            <a:r>
              <a:t>Ограниченная cross-dataset evaluation (DFDC02 → DFD01)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Фиксированный T=16</a:t>
            </a:r>
            <a:br/>
            <a:r>
              <a:t>(не адаптируется к длине видео)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Бинарная классификация</a:t>
            </a:r>
            <a:br/>
            <a:r>
              <a:t>(без определения типа манипуляции)</a:t>
            </a:r>
          </a:p>
          <a:p>
            <a:pPr>
              <a:spcBef>
                <a:spcPts val="1400"/>
              </a:spcBef>
              <a:defRPr sz="1500" b="0">
                <a:solidFill>
                  <a:srgbClr val="000000"/>
                </a:solidFill>
              </a:defRPr>
            </a:pPr>
            <a:r>
              <a:t>Ограниченный объём данных</a:t>
            </a:r>
            <a:br/>
            <a:r>
              <a:t>(~3300 видео)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572000"/>
          </a:xfrm>
          <a:prstGeom prst="roundRect">
            <a:avLst/>
          </a:prstGeom>
          <a:solidFill>
            <a:srgbClr val="E8EEF4"/>
          </a:solidFill>
          <a:ln w="25400"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55A4"/>
                </a:solidFill>
              </a:defRPr>
            </a:pPr>
            <a:r>
              <a:t>Направления развития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Расширение cross-dataset evaluation</a:t>
            </a:r>
            <a:br/>
            <a:r>
              <a:t>(FaceForensics++, Celeb-DF-v2, multi-dataset training)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Face alignment для нормализации геометрии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Мультимодальный анализ</a:t>
            </a:r>
            <a:br/>
            <a:r>
              <a:t>(аудио + визуальные признаки)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Адаптация к диффузионным моделям</a:t>
            </a:r>
            <a:br/>
            <a:r>
              <a:t>(Stable Diffusion Video, Sora)</a:t>
            </a:r>
          </a:p>
          <a:p>
            <a:pPr>
              <a:spcBef>
                <a:spcPts val="1200"/>
              </a:spcBef>
              <a:defRPr sz="1500" b="0">
                <a:solidFill>
                  <a:srgbClr val="000000"/>
                </a:solidFill>
              </a:defRPr>
            </a:pPr>
            <a:r>
              <a:t>Адаптивный T (dynamic frame count)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657600" cy="3657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</a:defRPr>
            </a:pPr>
            <a:r>
              <a:t>Разработан метод детектирования deepfake с dual-path архитектурой, объединяющей параллельные пространственную и временную ветви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</a:defRPr>
            </a:pPr>
            <a:r>
              <a:t>Достигнут AUC 0.9777 на DFDC subset (in-domain evaluation)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</a:defRPr>
            </a:pPr>
            <a:r>
              <a:t>Ablation study подтвердил вклад каждого компонента и валидность архитектурных решений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</a:defRPr>
            </a:pPr>
            <a:r>
              <a:t>Temporal-only ветвь (AUC 0.9655) подтвердила frame differences как самостоятельный дискриминативный сигнал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</a:defRPr>
            </a:pPr>
            <a:r>
              <a:t>Реализован полный воспроизводимый pipeline + Flask MVP для практического применения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BCCDD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99AA"/>
                </a:solidFill>
              </a:defRPr>
            </a:pPr>
            <a:r>
              <a:t>Готов ответить на ваши вопросы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1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Кривые обучения и Validation AUC</a:t>
            </a:r>
          </a:p>
        </p:txBody>
      </p:sp>
      <p:sp>
        <p:nvSpPr>
          <p:cNvPr id="4" name="R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N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9/15</a:t>
            </a:r>
          </a:p>
        </p:txBody>
      </p:sp>
      <p:pic>
        <p:nvPicPr>
          <p:cNvPr id="10" name="Img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791200" cy="5029200"/>
          </a:xfrm>
          <a:prstGeom prst="rect">
            <a:avLst/>
          </a:prstGeom>
        </p:spPr>
      </p:pic>
      <p:pic>
        <p:nvPicPr>
          <p:cNvPr id="11" name="Img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791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1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Ablation Study и Overfit Analysis</a:t>
            </a:r>
          </a:p>
        </p:txBody>
      </p:sp>
      <p:sp>
        <p:nvSpPr>
          <p:cNvPr id="4" name="R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N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10/15</a:t>
            </a:r>
          </a:p>
        </p:txBody>
      </p:sp>
      <p:pic>
        <p:nvPicPr>
          <p:cNvPr id="10" name="Img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791200" cy="5029200"/>
          </a:xfrm>
          <a:prstGeom prst="rect">
            <a:avLst/>
          </a:prstGeom>
        </p:spPr>
      </p:pic>
      <p:pic>
        <p:nvPicPr>
          <p:cNvPr id="11" name="Img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791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1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Confusion Matrix и ROC (лучшая модель A2)</a:t>
            </a:r>
          </a:p>
        </p:txBody>
      </p:sp>
      <p:sp>
        <p:nvSpPr>
          <p:cNvPr id="4" name="R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N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11/15</a:t>
            </a:r>
          </a:p>
        </p:txBody>
      </p:sp>
      <p:pic>
        <p:nvPicPr>
          <p:cNvPr id="10" name="Img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791200" cy="5029200"/>
          </a:xfrm>
          <a:prstGeom prst="rect">
            <a:avLst/>
          </a:prstGeom>
        </p:spPr>
      </p:pic>
      <p:pic>
        <p:nvPicPr>
          <p:cNvPr id="11" name="Img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791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