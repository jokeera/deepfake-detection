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300" r:id="rId22"/>
    <p:sldId id="268" r:id="rId19"/>
    <p:sldId id="269" r:id="rId20"/>
    <p:sldId id="270" r:id="rId21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НАЦИОНАЛЬНЫЙ ИССЛЕДОВАТЕЛЬСКИЙ ЯДЕРНЫЙ УНИВЕРСИТЕТ «МИФИ»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BCCDD"/>
                </a:solidFill>
              </a:defRPr>
            </a:pPr>
            <a:r>
              <a:t>Институт интеллектуальных кибернетических систем</a:t>
            </a:r>
            <a:br/>
            <a:r>
              <a:t>Кафедра № 42 «Криптология и кибербезопасность»</a:t>
            </a:r>
            <a:br/>
            <a:r>
              <a:t>Направление 01.04.02 «Прикладная математика и информатика»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920240"/>
            <a:ext cx="6675120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BCCDD"/>
                </a:solidFill>
              </a:defRPr>
            </a:pPr>
            <a:r>
              <a:t>Выпускная квалификационная работа магистра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Метод выявления манипулированных видео на основе пространственно-временного анализа: детектирование подмены лиц и синтетических видеопоследовательностей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7548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DDDDD"/>
                </a:solidFill>
              </a:defRPr>
            </a:pPr>
            <a:r>
              <a:rPr>
                <a:solidFill/>
              </a:rPr>
              <a:t>Студент группы М24-525: Тараканов Александр Алексеевич</a:t>
            </a:r>
          </a:p>
          <a:p>
            <a:pPr>
              <a:spcBef>
                <a:spcPts val="1000"/>
              </a:spcBef>
              <a:defRPr sz="1600">
                <a:solidFill>
                  <a:srgbClr val="DDDDDD"/>
                </a:solidFill>
              </a:defRPr>
            </a:pPr>
            <a:r>
              <a:rPr/>
              <a:t>Научный руководитель: к.э.н., доцент Смирнов Дмитрий Сергеевич</a:t>
            </a:r>
          </a:p>
          <a:p>
            <a:r>
              <a:rPr>
                <a:solidFill>
                  <a:srgbClr val="BBCCDD"/>
                </a:solidFill>
              </a:rPr>
              <a:t>Консультант: ведущий разработчик Копылов Иван Станиславович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922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CCDD"/>
                </a:solidFill>
              </a:defRPr>
            </a:pPr>
            <a:r>
              <a:t>Москва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Актуальность и 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003366"/>
                </a:solidFill>
              </a:defRPr>
            </a:pPr>
            <a:r>
              <a:t>Deepfake - реалистичные синтетические видео (face swap, reenactment, lip-sync)</a:t>
            </a:r>
          </a:p>
          <a:p>
            <a:pPr lvl="1"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Угрозы: дезинформация, мошенничество, шантаж, подрыв доверия к видеоконтенту</a:t>
            </a:r>
          </a:p>
          <a:p>
            <a:pPr>
              <a:spcBef>
                <a:spcPts val="1800"/>
              </a:spcBef>
              <a:defRPr sz="1800" b="1">
                <a:solidFill>
                  <a:srgbClr val="003366"/>
                </a:solidFill>
              </a:defRPr>
            </a:pPr>
            <a:r>
              <a:t>Покадровые детекторы (XceptionNet, EfficientNet):</a:t>
            </a:r>
          </a:p>
          <a:p>
            <a:pPr lvl="1"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AUC 99%+ in-domain, но падение на 15-25% при cross-dataset оценке</a:t>
            </a:r>
          </a:p>
          <a:p>
            <a:pPr lvl="1"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Пространственные артефакты нестабильны при смене метода генерации</a:t>
            </a:r>
          </a:p>
          <a:p>
            <a:pPr>
              <a:spcBef>
                <a:spcPts val="1800"/>
              </a:spcBef>
              <a:defRPr sz="1800" b="1">
                <a:solidFill>
                  <a:srgbClr val="CC5500"/>
                </a:solidFill>
              </a:defRPr>
            </a:pPr>
            <a:r>
              <a:t>Ключевой пробел:</a:t>
            </a:r>
          </a:p>
          <a:p>
            <a:pPr lvl="1">
              <a:spcBef>
                <a:spcPts val="600"/>
              </a:spcBef>
              <a:defRPr sz="1700" b="0">
                <a:solidFill>
                  <a:srgbClr val="003366"/>
                </a:solidFill>
              </a:defRPr>
            </a:pPr>
            <a:r>
              <a:t>Параллельное извлечение пространственных и временных признаков с явным временным входом в литературе встречается реже, чем последовательные и 3D-свёрточные подходы</a:t>
            </a:r>
          </a:p>
          <a:p>
            <a:pPr lvl="1"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Большинство методов рассматривают кадры независимо или используют последовательный pipeline (CNN+LSTM)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Цель и задачи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2000" b="1">
                <a:solidFill>
                  <a:srgbClr val="003366"/>
                </a:solidFill>
              </a:defRPr>
            </a:pPr>
            <a:r>
              <a:t>Цель: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Разработка метода детектирования манипулированных видео на основе параллельного пространственно-временного анализа и его экспериментальная оценка</a:t>
            </a:r>
          </a:p>
          <a:p>
            <a:pPr>
              <a:spcBef>
                <a:spcPts val="2400"/>
              </a:spcBef>
              <a:defRPr sz="2000" b="1">
                <a:solidFill>
                  <a:srgbClr val="003366"/>
                </a:solidFill>
              </a:defRPr>
            </a:pPr>
            <a:r>
              <a:t>Задачи: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1.  Анализ существующих методов детектирования deepfake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2.  Исследование пространственных и временных признаков манипуляций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3.  Разработка dual-path архитектуры с параллельными ветвями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4.  Программная реализация и обучение модели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5.  Экспериментальная оценка: ablation study, T=16 vs T=32, multi-dataset, cross-dataset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Обзор существующих подходов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003366"/>
                </a:solidFill>
              </a:defRPr>
            </a:pPr>
            <a:r>
              <a:t>Покадровые методы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XceptionNet, EfficientNet-B4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Высокая in-domain AUC (~99%)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CC5500"/>
                </a:solidFill>
              </a:defRPr>
            </a:pPr>
            <a:r>
              <a:t>Плохая обобщающая способность</a:t>
            </a:r>
          </a:p>
          <a:p>
            <a:pPr>
              <a:spcBef>
                <a:spcPts val="1800"/>
              </a:spcBef>
              <a:defRPr sz="1800" b="1">
                <a:solidFill>
                  <a:srgbClr val="003366"/>
                </a:solidFill>
              </a:defRPr>
            </a:pPr>
            <a:r>
              <a:t>Последовательные (CNN→LSTM)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Temporal зависит от spatial encoder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CC5500"/>
                </a:solidFill>
              </a:defRPr>
            </a:pPr>
            <a:r>
              <a:t>Ошибки spatial каскадируются</a:t>
            </a:r>
          </a:p>
          <a:p>
            <a:pPr>
              <a:spcBef>
                <a:spcPts val="1800"/>
              </a:spcBef>
              <a:defRPr sz="1800" b="1">
                <a:solidFill>
                  <a:srgbClr val="003366"/>
                </a:solidFill>
              </a:defRPr>
            </a:pPr>
            <a:r>
              <a:t>3D CNN (AltFreezing, I3D)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Неразделимость вкладов spatial/temporal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475488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5 ключевых ограничений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1. Зависимость от dataset-specific артефактов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2. Последовательная обработка (spatial→temporal)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3. Неявное кодирование временных признаков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4. Неразделимость вклада компонентов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5. Отсутствие интерпретируемого слияния</a:t>
            </a:r>
          </a:p>
          <a:p>
            <a:pPr>
              <a:spcBef>
                <a:spcPts val="2000"/>
              </a:spcBef>
              <a:defRPr sz="1700" b="1">
                <a:solidFill>
                  <a:srgbClr val="CC5500"/>
                </a:solidFill>
              </a:defRPr>
            </a:pPr>
            <a:r>
              <a:t>→ Мотивация: dual-path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Предлагаемый метод: 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926080"/>
            <a:ext cx="1097280" cy="64008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Video</a:t>
            </a:r>
            <a:br/>
            <a:r>
              <a:t>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3127248"/>
            <a:ext cx="411479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926080"/>
            <a:ext cx="1188720" cy="640080"/>
          </a:xfrm>
          <a:prstGeom prst="roundRect">
            <a:avLst/>
          </a:prstGeom>
          <a:solidFill>
            <a:srgbClr val="0055A4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MTCNN</a:t>
            </a:r>
            <a:br/>
            <a:r>
              <a:t>Face Detection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3127248"/>
            <a:ext cx="411479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926080"/>
            <a:ext cx="914400" cy="640080"/>
          </a:xfrm>
          <a:prstGeom prst="roundRect">
            <a:avLst/>
          </a:prstGeom>
          <a:solidFill>
            <a:srgbClr val="4477A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T=16</a:t>
            </a:r>
            <a:br/>
            <a:r>
              <a:t>Frames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34840" y="2103120"/>
            <a:ext cx="41148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1371600"/>
            <a:ext cx="1645920" cy="64008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EfficientNet-B4</a:t>
            </a:r>
            <a:br/>
            <a:r>
              <a:t>(per frame)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37960" y="1572768"/>
            <a:ext cx="320039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1371600"/>
            <a:ext cx="1188720" cy="640080"/>
          </a:xfrm>
          <a:prstGeom prst="roundRect">
            <a:avLst/>
          </a:prstGeom>
          <a:solidFill>
            <a:srgbClr val="4477A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Mean</a:t>
            </a:r>
            <a:br/>
            <a:r>
              <a:t>Pooling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92440" y="1572768"/>
            <a:ext cx="27432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1371600"/>
            <a:ext cx="1097280" cy="640080"/>
          </a:xfrm>
          <a:prstGeom prst="roundRect">
            <a:avLst/>
          </a:prstGeom>
          <a:solidFill>
            <a:srgbClr val="0055A4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Projection</a:t>
            </a:r>
            <a:br/>
            <a:r>
              <a:t>(512-d)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Spatial Branch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34840" y="4206240"/>
            <a:ext cx="41148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46320" y="3931920"/>
            <a:ext cx="1371600" cy="640080"/>
          </a:xfrm>
          <a:prstGeom prst="roundRect">
            <a:avLst/>
          </a:prstGeom>
          <a:solidFill>
            <a:srgbClr val="8855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Frame</a:t>
            </a:r>
            <a:br/>
            <a:r>
              <a:t>Differences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263640" y="4133087"/>
            <a:ext cx="27432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3931920"/>
            <a:ext cx="1371600" cy="640080"/>
          </a:xfrm>
          <a:prstGeom prst="roundRect">
            <a:avLst/>
          </a:prstGeom>
          <a:solidFill>
            <a:srgbClr val="AA66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EfficientNet-B0</a:t>
            </a:r>
            <a:br/>
            <a:r>
              <a:t>(per diff)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55279" y="4133087"/>
            <a:ext cx="27432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3749039"/>
            <a:ext cx="1463040" cy="914400"/>
          </a:xfrm>
          <a:prstGeom prst="roundRect">
            <a:avLst/>
          </a:prstGeom>
          <a:solidFill>
            <a:srgbClr val="8855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Transformer</a:t>
            </a:r>
            <a:br/>
            <a:r>
              <a:t>2L, 4H</a:t>
            </a:r>
            <a:br/>
            <a:r>
              <a:t>[CLS]→(512-d)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11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85500"/>
                </a:solidFill>
              </a:defRPr>
            </a:pPr>
            <a:r>
              <a:t>Temporal Branch</a:t>
            </a:r>
          </a:p>
        </p:txBody>
      </p:sp>
      <p:sp>
        <p:nvSpPr>
          <p:cNvPr id="25" name="Right Arrow 24"/>
          <p:cNvSpPr/>
          <p:nvPr/>
        </p:nvSpPr>
        <p:spPr>
          <a:xfrm rot="19500000">
            <a:off x="4023360" y="1965960"/>
            <a:ext cx="82296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 rot="2100000">
            <a:off x="4023360" y="4023360"/>
            <a:ext cx="822960" cy="228600"/>
          </a:xfrm>
          <a:prstGeom prst="rightArrow">
            <a:avLst/>
          </a:prstGeom>
          <a:solidFill>
            <a:srgbClr val="AA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560320"/>
            <a:ext cx="1188720" cy="1097280"/>
          </a:xfrm>
          <a:prstGeom prst="roundRect">
            <a:avLst/>
          </a:prstGeom>
          <a:solidFill>
            <a:srgbClr val="007744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Adaptive</a:t>
            </a:r>
            <a:br/>
            <a:r>
              <a:t>Weighted</a:t>
            </a:r>
            <a:br/>
            <a:r>
              <a:t>Fusion</a:t>
            </a:r>
            <a:br/>
            <a:r>
              <a:t>α_s + α_t = 1</a:t>
            </a:r>
          </a:p>
        </p:txBody>
      </p:sp>
      <p:sp>
        <p:nvSpPr>
          <p:cNvPr id="28" name="Right Arrow 27"/>
          <p:cNvSpPr/>
          <p:nvPr/>
        </p:nvSpPr>
        <p:spPr>
          <a:xfrm rot="1800000">
            <a:off x="9144000" y="2011680"/>
            <a:ext cx="914400" cy="18288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 rot="19800000">
            <a:off x="9326880" y="4023360"/>
            <a:ext cx="822960" cy="182880"/>
          </a:xfrm>
          <a:prstGeom prst="rightArrow">
            <a:avLst/>
          </a:prstGeom>
          <a:solidFill>
            <a:srgbClr val="AA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10927080" y="2971800"/>
            <a:ext cx="32004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247120" y="2697480"/>
            <a:ext cx="731520" cy="731520"/>
          </a:xfrm>
          <a:prstGeom prst="roundRect">
            <a:avLst/>
          </a:prstGeom>
          <a:solidFill>
            <a:srgbClr val="CC00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P(fake|V)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003366"/>
                </a:solidFill>
              </a:defRPr>
            </a:pPr>
            <a:r>
              <a:t>Ключевое свойство: параллельность ветвей, explicit temporal input (frame differences), интерпретируемое слияние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Ключевые архитектурные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12064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Temporal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5A4"/>
                </a:solidFill>
              </a:defRPr>
            </a:pPr>
            <a:r>
              <a:t>Frame differences vs optical flow vs raw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Компромисс: явное кодирование</a:t>
            </a:r>
            <a:br/>
            <a:r>
              <a:t>темпоральных изменений +</a:t>
            </a:r>
            <a:br/>
            <a:r>
              <a:t>сохранение цветовой информации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280160"/>
            <a:ext cx="512064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51206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Размер основной сети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5A4"/>
                </a:solidFill>
              </a:defRPr>
            </a:pPr>
            <a:r>
              <a:t>EfficientNet-B4 (spatial) vs B0 (temporal)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Разная сложность входных данных:</a:t>
            </a:r>
            <a:br/>
            <a:r>
              <a:t>RGB кадры vs разностные карты</a:t>
            </a:r>
            <a:br/>
            <a:r>
              <a:t>Более лёгкая сеть для временной ветви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12064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1206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Sequence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5A4"/>
                </a:solidFill>
              </a:defRPr>
            </a:pPr>
            <a:r>
              <a:t>Transformer vs LSTM для temporal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Глобальные зависимости при T-1=15</a:t>
            </a:r>
            <a:br/>
            <a:r>
              <a:t>Self-attention эффективнее</a:t>
            </a:r>
            <a:br/>
            <a:r>
              <a:t>для коротких последовательностей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840480"/>
            <a:ext cx="512064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840480"/>
            <a:ext cx="51206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Fusion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5A4"/>
                </a:solidFill>
              </a:defRPr>
            </a:pPr>
            <a:r>
              <a:t>Adaptive weighted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7548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Интерпретируемость:</a:t>
            </a:r>
            <a:br/>
            <a:r>
              <a:t>α_spatial + α_temporal = 1</a:t>
            </a:r>
            <a:br/>
            <a:r>
              <a:t>Обучаемые веса ветвей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Протокол обучения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900" b="1">
                <a:solidFill>
                  <a:srgbClr val="003366"/>
                </a:solidFill>
              </a:defRPr>
            </a:pPr>
            <a:r>
              <a:t>Данные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3 датасета (DFDC02+DFD01+CelebDF): ~10000 видео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Разделение по video-ID - одно видео не попадает и в train, и в val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Clip-consistent augmentation - одна и та же аугментация на всех кадрах клипа</a:t>
            </a:r>
          </a:p>
          <a:p>
            <a:pPr>
              <a:spcBef>
                <a:spcPts val="2000"/>
              </a:spcBef>
              <a:defRPr sz="1900" b="1">
                <a:solidFill>
                  <a:srgbClr val="003366"/>
                </a:solidFill>
              </a:defRPr>
            </a:pPr>
            <a:r>
              <a:t>Оптимизация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AdamW - стандартный оптимизатор для дообучения предобученных сетей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Разные скорости обучения: основная сеть 1e-4 (бережём ImageNet-веса), классификатор 3e-4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CosineAnnealing LR scheduler - плавное снижение скорости обучения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900" b="1">
                <a:solidFill>
                  <a:srgbClr val="003366"/>
                </a:solidFill>
              </a:defRPr>
            </a:pPr>
            <a:r>
              <a:t>Стратегия обучения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Warmup (прогрев): первые 5 эпох основная сеть заморожена, учим только классификатор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Разморозка: дообучаем 2 последних блока основной сети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Early stopping - автоостановка (patience=7: 7 эпох без прироста → стоп)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AUC - главная метрика, по ней выбирается лучшая версия модели</a:t>
            </a:r>
          </a:p>
          <a:p>
            <a:pPr>
              <a:spcBef>
                <a:spcPts val="2000"/>
              </a:spcBef>
              <a:defRPr sz="1900" b="1">
                <a:solidFill>
                  <a:srgbClr val="003366"/>
                </a:solidFill>
              </a:defRPr>
            </a:pPr>
            <a:r>
              <a:t>Инфраструктура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Kaggle P100 GPU - бесплатный облачный GPU для обучения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30 эпох максимум - верхний предел, реально остановились на эп. 28+7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Mixed precision (AMP) - умножения в fp16, градиенты в fp32. Без этого batch=8 не влезал бы в 16 GB памяти GPU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[этап 1] Результаты: In-domain evaluation (DFDC02, T=16)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8/15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Метод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Spatial-only (A2)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0.9835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0.9273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Sequential CNN+BiLSTM (A4)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Temporal-only (A3)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0.9655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0.9152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0.9075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Предлагаемый dual-path (A1)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0.9777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0.9253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0.9201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3366"/>
                </a:solidFill>
              </a:defRPr>
            </a:pPr>
            <a:r>
              <a:t>Ключевой вывод:</a:t>
            </a:r>
          </a:p>
          <a:p>
            <a:pPr>
              <a:spcBef>
                <a:spcPts val="600"/>
              </a:spcBef>
              <a:defRPr sz="1500" b="0">
                <a:solidFill>
                  <a:srgbClr val="000000"/>
                </a:solidFill>
              </a:defRPr>
            </a:pPr>
            <a:r>
              <a:t>Spatial-only лидирует in-domain (AUC 0.9835) за счёт пространственных артефактов конкретного датасета</a:t>
            </a:r>
          </a:p>
          <a:p>
            <a:pPr>
              <a:spcBef>
                <a:spcPts val="600"/>
              </a:spcBef>
              <a:defRPr sz="1500" b="0">
                <a:solidFill>
                  <a:srgbClr val="000000"/>
                </a:solidFill>
              </a:defRPr>
            </a:pPr>
            <a:r>
              <a:t/>
            </a:r>
          </a:p>
          <a:p>
            <a:pPr>
              <a:spcBef>
                <a:spcPts val="600"/>
              </a:spcBef>
              <a:defRPr sz="1500" b="1">
                <a:solidFill>
                  <a:srgbClr val="CC5500"/>
                </a:solidFill>
              </a:defRPr>
            </a:pPr>
            <a:r>
              <a:t>Dual-path (0.9777) объединяет оба типа сигналов; на cross-dataset переносе DFDC02 -&gt; DFD01 dual-path 0.553 показал на 5 п.п. AUC лучше spatial 0.504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[ГЛАВНЫЙ РЕЗУЛЬТАТ] Ablation Study на 3DS, T=32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9/15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Модель (3 датасета, T=32)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EER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A1: Full dual-path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0.9943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96.7%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0.041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A2: Spatial-only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0.9904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95.8%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0.047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A3: Temporal-only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0.9883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95.4%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0.046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A4: Sequential (BiLSTM)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0.9844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94.9%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0.057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3366"/>
                </a:solidFill>
              </a:defRPr>
            </a:pPr>
            <a:r>
              <a:t>Ключевые выводы:</a:t>
            </a:r>
          </a:p>
          <a:p>
            <a:pPr>
              <a:spcBef>
                <a:spcPts val="600"/>
              </a:spcBef>
              <a:defRPr sz="1500" b="0">
                <a:solidFill>
                  <a:srgbClr val="000000"/>
                </a:solidFill>
              </a:defRPr>
            </a:pPr>
            <a:r>
              <a:t>Full dual-path (A1): AUC = 0.994, Accuracy = 96.7 %, F1 = 0.978, EER = 0.041 - наилучшая конфигурация</a:t>
            </a:r>
          </a:p>
          <a:p>
            <a:pPr>
              <a:spcBef>
                <a:spcPts val="600"/>
              </a:spcBef>
              <a:defRPr sz="1500" b="0">
                <a:solidFill>
                  <a:srgbClr val="000000"/>
                </a:solidFill>
              </a:defRPr>
            </a:pPr>
            <a:r>
              <a:t>Масштабирование: 1DS→2DS→3DS + T=32 повысило AUC с 0.978 до 0.994</a:t>
            </a:r>
          </a:p>
          <a:p>
            <a:pPr>
              <a:spcBef>
                <a:spcPts val="600"/>
              </a:spcBef>
              <a:defRPr sz="1500" b="1">
                <a:solidFill>
                  <a:srgbClr val="CC5500"/>
                </a:solidFill>
              </a:defRPr>
            </a:pPr>
            <a:r>
              <a:t>EER снизился на 66 % (0.121 → 0.041) при переходе T=16 → T=32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1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Кривые обучения и Val AUC на 1/2/3 конфигурациях</a:t>
            </a:r>
          </a:p>
        </p:txBody>
      </p:sp>
      <p:sp>
        <p:nvSpPr>
          <p:cNvPr id="4" name="R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N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10/15</a:t>
            </a:r>
          </a:p>
        </p:txBody>
      </p:sp>
      <p:pic>
        <p:nvPicPr>
          <p:cNvPr id="12" name="Picture 11" descr="composite_train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143000"/>
            <a:ext cx="5791200" cy="5029200"/>
          </a:xfrm>
          <a:prstGeom prst="rect">
            <a:avLst/>
          </a:prstGeom>
        </p:spPr>
      </p:pic>
      <p:pic>
        <p:nvPicPr>
          <p:cNvPr id="13" name="Picture 12" descr="composite_val_au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143000"/>
            <a:ext cx="5791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1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Ablation: сводка тест-метрик на 1/2/3 конфигурациях</a:t>
            </a:r>
          </a:p>
        </p:txBody>
      </p:sp>
      <p:sp>
        <p:nvSpPr>
          <p:cNvPr id="4" name="R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N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11/15</a:t>
            </a:r>
          </a:p>
        </p:txBody>
      </p:sp>
      <p:pic>
        <p:nvPicPr>
          <p:cNvPr id="11" name="Img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791200" cy="5029200"/>
          </a:xfrm>
          <a:prstGeom prst="rect">
            <a:avLst/>
          </a:prstGeom>
        </p:spPr>
      </p:pic>
      <p:pic>
        <p:nvPicPr>
          <p:cNvPr id="12" name="Picture 11" descr="summary_test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143000"/>
            <a:ext cx="5791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1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Confusion Matrix и ROC (A1 Full, 3DS T=32)</a:t>
            </a:r>
          </a:p>
        </p:txBody>
      </p:sp>
      <p:sp>
        <p:nvSpPr>
          <p:cNvPr id="4" name="R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N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12/15</a:t>
            </a:r>
          </a:p>
        </p:txBody>
      </p:sp>
      <p:pic>
        <p:nvPicPr>
          <p:cNvPr id="10" name="Img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791200" cy="5029200"/>
          </a:xfrm>
          <a:prstGeom prst="rect">
            <a:avLst/>
          </a:prstGeom>
        </p:spPr>
      </p:pic>
      <p:pic>
        <p:nvPicPr>
          <p:cNvPr id="11" name="Img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791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Анализ результатов: per-domain и cross-dataset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Per-domain AUC на тестовой выборке 3DS T=16:</a:t>
            </a:r>
          </a:p>
          <a:p>
            <a:r>
              <a:t>DFDC02:    AUC = 0.984</a:t>
            </a:r>
          </a:p>
          <a:p>
            <a:r>
              <a:t>Celeb-DF v2: AUC = 0.997</a:t>
            </a:r>
          </a:p>
          <a:p>
            <a:r>
              <a:t>DFD01:     AUC = 0.574  (n_real=54)</a:t>
            </a:r>
          </a:p>
          <a:p>
            <a:r>
              <a:t/>
            </a:r>
          </a:p>
          <a:p>
            <a:r>
              <a:t>Малое число real в DFD01 - оценка нестабильна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274320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Cross-dataset DFDC02 -&gt; DFD01:</a:t>
            </a:r>
          </a:p>
          <a:p>
            <a:r>
              <a:t>A1 Full (dual-path):  AUC = 0.553</a:t>
            </a:r>
          </a:p>
          <a:p>
            <a:r>
              <a:t>A2 Spatial-only:       AUC = 0.504</a:t>
            </a:r>
          </a:p>
          <a:p>
            <a:r>
              <a:t>Δ = +0.049 в пользу dual-path</a:t>
            </a:r>
          </a:p>
          <a:p>
            <a:r>
              <a:t/>
            </a:r>
          </a:p>
          <a:p>
            <a:r>
              <a:t>Согласуется с DeepfakeBench [25]: 15-25 % падение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394960" cy="1645920"/>
          </a:xfrm>
          <a:prstGeom prst="roundRect">
            <a:avLst/>
          </a:prstGeom>
          <a:solidFill>
            <a:srgbClr val="E8F4E8"/>
          </a:solidFill>
          <a:ln w="19050">
            <a:solidFill>
              <a:srgbClr val="00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3891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744"/>
                </a:solidFill>
              </a:defRPr>
            </a:pPr>
            <a:r>
              <a:t>Fusion веса (12 demo видео):</a:t>
            </a:r>
          </a:p>
          <a:p>
            <a:r>
              <a:t>α_spatial для fakes:  0.928</a:t>
            </a:r>
          </a:p>
          <a:p>
            <a:r>
              <a:t>α_spatial для real:   0.646</a:t>
            </a:r>
          </a:p>
          <a:p>
            <a:r>
              <a:t>α_temporal для real:  0.354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Научная новизна и практическая значимость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572000"/>
          </a:xfrm>
          <a:prstGeom prst="roundRect">
            <a:avLst/>
          </a:prstGeom>
          <a:solidFill>
            <a:srgbClr val="E8EEF4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1. Параллельная dual-path архитектура с явным временным входом (frame differences) - конкретная конфигурация EffNet-B4 + EffNet-B0 + Transformer + adaptive fusion</a:t>
            </a:r>
          </a:p>
          <a:p>
            <a:r>
              <a:t>2. Систематическая ablation: 4 архитектуры x 2 значения T x 1/2/3 датасета в идентичных условиях</a:t>
            </a:r>
          </a:p>
          <a:p>
            <a:r>
              <a:t>3. Воспроизводимый pipeline на PyTorch + Flask MVP, открытый код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572000"/>
          </a:xfrm>
          <a:prstGeom prst="roundRect">
            <a:avLst/>
          </a:prstGeom>
          <a:solidFill>
            <a:srgbClr val="E8F4E8"/>
          </a:solidFill>
          <a:ln w="25400">
            <a:solidFill>
              <a:srgbClr val="00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744"/>
                </a:solidFill>
              </a:defRPr>
            </a:pPr>
            <a:r>
              <a:t>Практическая значимость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Воспроизводимый pipeline (PyTorch, open-source код)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Flask MVP для анализа видео через веб-интерфейс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Кроссплатформенность: CUDA, MPS (Apple Silicon), CPU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Модульная архитектура: лёгкая замена компонентов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Полная документация экспериментов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Ограничения и направления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572000"/>
          </a:xfrm>
          <a:prstGeom prst="roundRect">
            <a:avLst/>
          </a:prstGeom>
          <a:solidFill>
            <a:srgbClr val="FDF0E0"/>
          </a:solidFill>
          <a:ln w="2540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C5500"/>
                </a:solidFill>
              </a:defRPr>
            </a:pPr>
            <a:r>
              <a:t>Per-domain разница: DFD01 AUC = 0.574 (n_real=54, оценка нестабильна)</a:t>
            </a:r>
          </a:p>
          <a:p>
            <a:r>
              <a:t>Cross-dataset перенос: 43 % падение AUC (0.978 → 0.553)</a:t>
            </a:r>
          </a:p>
          <a:p>
            <a:r>
              <a:t>Бинарная классификация (без типа манипуляции)</a:t>
            </a:r>
          </a:p>
          <a:p>
            <a:r>
              <a:t>Только 3 датасета, 3 метода генерации</a:t>
            </a:r>
          </a:p>
          <a:p>
            <a:r>
              <a:t>Адаптивный выбор T не реализован</a:t>
            </a:r>
          </a:p>
          <a:p>
            <a:pPr lvl="1"/>
            <a:r>
              <a:rPr sz="1400"/>
              <a:t>A5 (concat) / A6 (gate) — реализованы в коде, не прогнаны (~3 GPU-ч/конфиг.) — future work</a:t>
            </a:r>
          </a:p>
          <a:p>
            <a:pPr lvl="1"/>
            <a:r>
              <a:rPr sz="1400"/>
              <a:t>Cross-dataset matrix (полный 6-парный перенос) — ожидаемое падение AUC 15-25% (DeepfakeBench)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572000"/>
          </a:xfrm>
          <a:prstGeom prst="roundRect">
            <a:avLst/>
          </a:prstGeom>
          <a:solidFill>
            <a:srgbClr val="E8EEF4"/>
          </a:solidFill>
          <a:ln w="25400"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55A4"/>
                </a:solidFill>
              </a:defRPr>
            </a:pPr>
            <a:r>
              <a:t>Направления развития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Расширение на FaceForensics++</a:t>
            </a:r>
            <a:br/>
            <a:r>
              <a:t>(дополнительные датасеты и методы генерации)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Face alignment для нормализации геометрии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Мультимодальный анализ</a:t>
            </a:r>
            <a:br/>
            <a:r>
              <a:t>(аудио + визуальные признаки)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Адаптация к диффузионным моделям</a:t>
            </a:r>
            <a:br/>
            <a:r>
              <a:t>(Stable Diffusion Video, Sora)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Адаптивный T (dynamic frame count)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65760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Основные результаты:</a:t>
            </a:r>
          </a:p>
          <a:p>
            <a:r>
              <a:rPr>
                <a:solidFill>
                  <a:srgbClr val="FFFFFF"/>
                </a:solidFill>
              </a:rPr>
              <a:t>1. Реализована dual-path архитектура: EffNet-B4 + EffNet-B0 + Transformer + adaptive fusion</a:t>
            </a:r>
          </a:p>
          <a:p>
            <a:r>
              <a:rPr>
                <a:solidFill>
                  <a:srgbClr val="FFFFFF"/>
                </a:solidFill>
              </a:rPr>
              <a:t>2. На 3 датасетах при T=32 достигнуты AUC = 0.994, Acc = 96.7 %, F1 = 0.978, EER = 0.041</a:t>
            </a:r>
          </a:p>
          <a:p>
            <a:r>
              <a:rPr>
                <a:solidFill>
                  <a:srgbClr val="FFFFFF"/>
                </a:solidFill>
              </a:rPr>
              <a:t>3. Полный воспроизводимый pipeline на PyTorch + Flask MVP</a:t>
            </a:r>
          </a:p>
          <a:p>
            <a:r>
              <a:rPr>
                <a:solidFill>
                  <a:srgbClr val="FFFFFF"/>
                </a:solidFill>
              </a:rPr>
              <a:t/>
            </a:r>
          </a:p>
          <a:p>
            <a:r>
              <a:rPr>
                <a:solidFill>
                  <a:srgbClr val="FFFFFF"/>
                </a:solidFill>
              </a:rPr>
              <a:t>Ablation подтвердил вклад каждого компонента архитектуры</a:t>
            </a:r>
          </a:p>
          <a:p>
            <a:r>
              <a:rPr>
                <a:solidFill>
                  <a:srgbClr val="FFFFFF"/>
                </a:solidFill>
              </a:rPr>
              <a:t>Cross-dataset проверка показала ожидаемую деградацию AUC ~ 43 %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BCCDD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899AA"/>
                </a:solidFill>
              </a:defRPr>
            </a:pPr>
            <a:r>
              <a:rPr/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