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300" r:id="rId22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№ 42 «Криптология и кибербезопасность»</a:t>
            </a:r>
            <a:br/>
            <a:r>
              <a:t>Направление 01.04.02 «Прикладная математика и информатика»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 магистра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7548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rPr>
                <a:solidFill/>
              </a:rPr>
              <a:t>Студент группы М24-525: Тараканов Александр Алексеевич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rPr/>
              <a:t>Научный руководитель: к.э.н., доцент Смирнов Дмитрий Сергеевич</a:t>
            </a:r>
          </a:p>
          <a:p>
            <a:r>
              <a:rPr>
                <a:solidFill>
                  <a:srgbClr val="BBCCDD"/>
                </a:solidFill>
              </a:rPr>
              <a:t>Консультант: ведущий разработчик Копылов Иван Станиславович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922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-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Параллельное извлечение пространственных и временных признаков с явным временным входом в литературе встречается реже, чем последовательные и 3D-свёрточные подходы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 (CNN+LSTM)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 и его экспериментальная оценка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оценка: ablation study, T=16 vs T=32, multi-dataset, cross-dataset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Размер основной сети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лёгкая сеть для временной ветви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 датасета (DFDC02+DFD01+CelebDF): ~10000 видео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- одно видео не попадает и в train, и в val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 - одна и та же аугментация на всех кадрах клипа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- стандартный оптимизатор для дообучения предобученных сетей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Разные скорости обучения: основная сеть 1e-4 (бережём ImageNet-веса), классификатор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 - плавное снижение скорости обучения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 (прогрев): первые 5 эпох основная сеть заморожена, учим только классификатор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Разморозка: дообучаем 2 последних блока основной сети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- автоостановка (patience=7: 7 эпох без прироста → стоп)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- главная метрика, по ней выбирается лучшая версия модели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 - бесплатный облачный GPU для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 - верхний предел, реально остановились на эп. 28+7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 - умножения в fp16, градиенты в fp32. Без этого batch=8 не влезал бы в 16 GB памяти GPU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[этап 1] Результаты: In-domain evaluation (DFDC02, T=16)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(A2)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(A4)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in-domain (AUC 0.9835) за счёт пространственных артефактов конкретного датасета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/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Dual-path (0.9777) объединяет оба типа сигналов; на cross-dataset переносе DFDC02 -&gt; DFD01 dual-path 0.553 показал на 5 п.п. AUC лучше spatial 0.504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[ГЛАВНЫЙ РЕЗУЛЬТАТ] Ablation Study на 3DS, T=32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Модель (3 датасета, T=32)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A1: Full dual-path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96.7%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A2: Spatial-only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0.9904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A3: Temporal-only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95.4%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A4: Sequential (BiLSTM)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0.9844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94.9%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0.057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Full dual-path (A1): AUC = 0.994, Accuracy = 96.7 %, F1 = 0.978, EER = 0.041 - наилучшая конфигурация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Масштабирование: 1DS→2DS→3DS + T=32 повысило AUC с 0.978 до 0.994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EER снизился на 66 % (0.121 → 0.041) при переходе T=16 → T=32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(A1 Full, 3DS T=32)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Анализ результатов: per-domain и cross-dataset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Per-domain AUC на тестовой выборке 3DS T=16:</a:t>
            </a:r>
          </a:p>
          <a:p>
            <a:r>
              <a:t>DFDC02:    AUC = 0.984</a:t>
            </a:r>
          </a:p>
          <a:p>
            <a:r>
              <a:t>Celeb-DF v2: AUC = 0.997</a:t>
            </a:r>
          </a:p>
          <a:p>
            <a:r>
              <a:t>DFD01:     AUC = 0.574  (n_real=54)</a:t>
            </a:r>
          </a:p>
          <a:p>
            <a:r>
              <a:t/>
            </a:r>
          </a:p>
          <a:p>
            <a:r>
              <a:t>Малое число real в DFD01 - оценка нестабильна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Cross-dataset DFDC02 -&gt; DFD01:</a:t>
            </a:r>
          </a:p>
          <a:p>
            <a:r>
              <a:t>A1 Full (dual-path):  AUC = 0.553</a:t>
            </a:r>
          </a:p>
          <a:p>
            <a:r>
              <a:t>A2 Spatial-only:       AUC = 0.504</a:t>
            </a:r>
          </a:p>
          <a:p>
            <a:r>
              <a:t>Δ = +0.049 в пользу dual-path</a:t>
            </a:r>
          </a:p>
          <a:p>
            <a:r>
              <a:t/>
            </a:r>
          </a:p>
          <a:p>
            <a:r>
              <a:t>Согласуется с DeepfakeBench [25]: 15-25 % падение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Fusion веса (12 demo видео):</a:t>
            </a:r>
          </a:p>
          <a:p>
            <a:r>
              <a:t>α_spatial для fakes:  0.928</a:t>
            </a:r>
          </a:p>
          <a:p>
            <a:r>
              <a:t>α_spatial для real:   0.646</a:t>
            </a:r>
          </a:p>
          <a:p>
            <a:r>
              <a:t>α_temporal для real:  0.354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1. Параллельная dual-path архитектура с явным временным входом (frame differences) - конкретная конфигурация EffNet-B4 + EffNet-B0 + Transformer + adaptive fusion</a:t>
            </a:r>
          </a:p>
          <a:p>
            <a:r>
              <a:t>2. Систематическая ablation: 4 архитектуры x 2 значения T x 1/2/3 датасета в идентичных условиях</a:t>
            </a:r>
          </a:p>
          <a:p>
            <a:r>
              <a:t>3. Воспроизводимый pipeline на PyTorch + Flask MVP, открытый код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Per-domain разница: DFD01 AUC = 0.574 (n_real=54, оценка нестабильна)</a:t>
            </a:r>
          </a:p>
          <a:p>
            <a:r>
              <a:t>Cross-dataset перенос: 43 % падение AUC (0.978 → 0.553)</a:t>
            </a:r>
          </a:p>
          <a:p>
            <a:r>
              <a:t>Бинарная классификация (без типа манипуляции)</a:t>
            </a:r>
          </a:p>
          <a:p>
            <a:r>
              <a:t>Только 3 датасета, 3 метода генерации</a:t>
            </a:r>
          </a:p>
          <a:p>
            <a:r>
              <a:t>Адаптивный выбор T не реализован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Основные результаты:</a:t>
            </a:r>
          </a:p>
          <a:p>
            <a:r>
              <a:rPr>
                <a:solidFill>
                  <a:srgbClr val="FFFFFF"/>
                </a:solidFill>
              </a:rPr>
              <a:t>1. Реализована dual-path архитектура: EffNet-B4 + EffNet-B0 + Transformer + adaptive fusion</a:t>
            </a:r>
          </a:p>
          <a:p>
            <a:r>
              <a:rPr>
                <a:solidFill>
                  <a:srgbClr val="FFFFFF"/>
                </a:solidFill>
              </a:rPr>
              <a:t>2. На 3 датасетах при T=32 достигнуты AUC = 0.994, Acc = 96.7 %, F1 = 0.978, EER = 0.041</a:t>
            </a:r>
          </a:p>
          <a:p>
            <a:r>
              <a:rPr>
                <a:solidFill>
                  <a:srgbClr val="FFFFFF"/>
                </a:solidFill>
              </a:rPr>
              <a:t>3. Полный воспроизводимый pipeline на PyTorch + Flask MVP</a:t>
            </a:r>
          </a:p>
          <a:p>
            <a:r>
              <a:rPr>
                <a:solidFill>
                  <a:srgbClr val="FFFFFF"/>
                </a:solidFill>
              </a:rPr>
              <a:t/>
            </a:r>
          </a:p>
          <a:p>
            <a:r>
              <a:rPr>
                <a:solidFill>
                  <a:srgbClr val="FFFFFF"/>
                </a:solidFill>
              </a:rPr>
              <a:t>Ablation подтвердил вклад каждого компонента архитектуры</a:t>
            </a:r>
          </a:p>
          <a:p>
            <a:r>
              <a:rPr>
                <a:solidFill>
                  <a:srgbClr val="FFFFFF"/>
                </a:solidFill>
              </a:rPr>
              <a:t>Cross-dataset проверка показала ожидаемую деградацию AUC ~ 43 %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rPr/>
              <a:t>Готов ответить на ваши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