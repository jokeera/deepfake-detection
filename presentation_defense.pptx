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ДЕТЕКЦИЯ ДИПФЕЙКОВ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ADCFC"/>
                </a:solidFill>
                <a:latin typeface="Calibri"/>
              </a:defRPr>
            </a:pPr>
            <a:r>
              <a:t>на основе пространственно-временного</a:t>
            </a:r>
            <a:br/>
            <a:r>
              <a:t>анализа видеопоследовательностей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931920"/>
            <a:ext cx="2743200" cy="36576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Магистерская диссертация (ВКР)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080"/>
                </a:solidFill>
                <a:latin typeface="Calibri"/>
              </a:defRPr>
            </a:pPr>
            <a:r>
              <a:t>НИЯУ МИФИ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АКТУАЛЬНОСТЬ ИССЛЕДОВАНИЯ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00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00400" cy="54864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08EC6"/>
                </a:solidFill>
                <a:latin typeface="Calibri"/>
              </a:defRPr>
            </a:pPr>
            <a:r>
              <a:t>500%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0"/>
                </a:solidFill>
                <a:latin typeface="Calibri"/>
              </a:defRPr>
            </a:pPr>
            <a:r>
              <a:t>рост числа дипфейков</a:t>
            </a:r>
            <a:br/>
            <a:r>
              <a:t>за 2019-2024 гг.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200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200400" cy="54864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54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08EC6"/>
                </a:solidFill>
                <a:latin typeface="Calibri"/>
              </a:defRPr>
            </a:pPr>
            <a:r>
              <a:t>96%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86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0"/>
                </a:solidFill>
                <a:latin typeface="Calibri"/>
              </a:defRPr>
            </a:pPr>
            <a:r>
              <a:t>дипфейков —</a:t>
            </a:r>
            <a:br/>
            <a:r>
              <a:t>порнографический контент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371600"/>
            <a:ext cx="3200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200400" cy="54864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54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08EC6"/>
                </a:solidFill>
                <a:latin typeface="Calibri"/>
              </a:defRPr>
            </a:pPr>
            <a:r>
              <a:t>$25B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0"/>
                </a:solidFill>
                <a:latin typeface="Calibri"/>
              </a:defRPr>
            </a:pPr>
            <a:r>
              <a:t>ущерб от fraud</a:t>
            </a:r>
            <a:br/>
            <a:r>
              <a:t>с использованием deepfake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761"/>
                </a:solidFill>
                <a:latin typeface="Calibri"/>
              </a:defRPr>
              <a:buChar char="▸"/>
            </a:pPr>
            <a:r>
              <a:t>Генеративные модели (GAN, diffusion) делают фальсификации неотличимыми для человека</a:t>
            </a:r>
          </a:p>
          <a:p>
            <a:pPr>
              <a:spcAft>
                <a:spcPts val="800"/>
              </a:spcAft>
              <a:defRPr sz="1600">
                <a:solidFill>
                  <a:srgbClr val="1E2761"/>
                </a:solidFill>
                <a:latin typeface="Calibri"/>
              </a:defRPr>
              <a:buChar char="▸"/>
            </a:pPr>
            <a:r>
              <a:t>Угрозы: политические манипуляции, финансовое мошенничество, нарушение приватности</a:t>
            </a:r>
          </a:p>
          <a:p>
            <a:pPr>
              <a:spcAft>
                <a:spcPts val="800"/>
              </a:spcAft>
              <a:defRPr sz="1600">
                <a:solidFill>
                  <a:srgbClr val="1E2761"/>
                </a:solidFill>
                <a:latin typeface="Calibri"/>
              </a:defRPr>
              <a:buChar char="▸"/>
            </a:pPr>
            <a:r>
              <a:t>Необходимы автоматические методы детекции, учитывающие как пространственные, так и временные артефакты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ЦЕЛЬ И ЗАДАЧИ ИССЛЕДОВАНИЯ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08EC6"/>
                </a:solidFill>
                <a:latin typeface="Calibri"/>
              </a:defRPr>
            </a:pPr>
            <a:r>
              <a:t>ЦЕЛЬ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Разработка и исследование метода детекции дипфейков на основе</a:t>
            </a:r>
            <a:br/>
            <a:r>
              <a:t>параллельного пространственно-временного анализа видеопоследовательностей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34640"/>
            <a:ext cx="411480" cy="411480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761"/>
                </a:solidFill>
                <a:latin typeface="Calibri"/>
              </a:defRPr>
            </a:pPr>
            <a:r>
              <a:t>Исследовать существующие подходы к детекции дипфейков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411480" cy="411480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747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761"/>
                </a:solidFill>
                <a:latin typeface="Calibri"/>
              </a:defRPr>
            </a:pPr>
            <a:r>
              <a:t>Спроектировать двухпоточную (dual-path) архитектуру с adaptive fusion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411480" cy="411480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14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761"/>
                </a:solidFill>
                <a:latin typeface="Calibri"/>
              </a:defRPr>
            </a:pPr>
            <a:r>
              <a:t>Реализовать полный pipeline: предобработка → обучение → оценка → инференс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79"/>
            <a:ext cx="411480" cy="411480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75487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761"/>
                </a:solidFill>
                <a:latin typeface="Calibri"/>
              </a:defRPr>
            </a:pPr>
            <a:r>
              <a:t>Провести серию экспериментов (ablation study) для валидации архитектурных решений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394960"/>
            <a:ext cx="411480" cy="411480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94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761"/>
                </a:solidFill>
                <a:latin typeface="Calibri"/>
              </a:defRPr>
            </a:pPr>
            <a:r>
              <a:t>Разработать MVP-систему с веб-интерфейсом для демонстрации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ОБЗОР СУЩЕСТВУЮЩИХ МЕТОДОВ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4747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47472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Пространственные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761"/>
                </a:solidFill>
                <a:latin typeface="Calibri"/>
              </a:defRPr>
              <a:buChar char="▸"/>
            </a:pPr>
            <a:r>
              <a:t>XceptionNet, EfficientNet</a:t>
            </a:r>
          </a:p>
          <a:p>
            <a:pPr>
              <a:spcAft>
                <a:spcPts val="800"/>
              </a:spcAft>
              <a:defRPr sz="1400">
                <a:solidFill>
                  <a:srgbClr val="1E2761"/>
                </a:solidFill>
                <a:latin typeface="Calibri"/>
              </a:defRPr>
              <a:buChar char="▸"/>
            </a:pPr>
            <a:r>
              <a:t>Анализ артефактов в отдельных кадрах</a:t>
            </a:r>
          </a:p>
          <a:p>
            <a:pPr>
              <a:spcAft>
                <a:spcPts val="800"/>
              </a:spcAft>
              <a:defRPr sz="1400">
                <a:solidFill>
                  <a:srgbClr val="1E2761"/>
                </a:solidFill>
                <a:latin typeface="Calibri"/>
              </a:defRPr>
              <a:buChar char="▸"/>
            </a:pPr>
            <a:r>
              <a:t>Текстуры, границы, частотные аномалии</a:t>
            </a:r>
          </a:p>
          <a:p>
            <a:pPr>
              <a:spcAft>
                <a:spcPts val="800"/>
              </a:spcAft>
              <a:defRPr sz="1400">
                <a:solidFill>
                  <a:srgbClr val="1E2761"/>
                </a:solidFill>
                <a:latin typeface="Calibri"/>
              </a:defRPr>
              <a:buChar char="▸"/>
            </a:pPr>
            <a:r>
              <a:t>❌ Не учитывают временную динамику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280160"/>
            <a:ext cx="34747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280160"/>
            <a:ext cx="3474720" cy="54864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8EC6"/>
                </a:solidFill>
                <a:latin typeface="Calibri"/>
              </a:defRPr>
            </a:pPr>
            <a:r>
              <a:t>Временные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0116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761"/>
                </a:solidFill>
                <a:latin typeface="Calibri"/>
              </a:defRPr>
              <a:buChar char="▸"/>
            </a:pPr>
            <a:r>
              <a:t>LSTM, 3D CNN (I3D, SlowFast)</a:t>
            </a:r>
          </a:p>
          <a:p>
            <a:pPr>
              <a:spcAft>
                <a:spcPts val="800"/>
              </a:spcAft>
              <a:defRPr sz="1400">
                <a:solidFill>
                  <a:srgbClr val="1E2761"/>
                </a:solidFill>
                <a:latin typeface="Calibri"/>
              </a:defRPr>
              <a:buChar char="▸"/>
            </a:pPr>
            <a:r>
              <a:t>Анализ межкадровых изменений</a:t>
            </a:r>
          </a:p>
          <a:p>
            <a:pPr>
              <a:spcAft>
                <a:spcPts val="800"/>
              </a:spcAft>
              <a:defRPr sz="1400">
                <a:solidFill>
                  <a:srgbClr val="1E2761"/>
                </a:solidFill>
                <a:latin typeface="Calibri"/>
              </a:defRPr>
              <a:buChar char="▸"/>
            </a:pPr>
            <a:r>
              <a:t>Мерцание, несогласованность движений</a:t>
            </a:r>
          </a:p>
          <a:p>
            <a:pPr>
              <a:spcAft>
                <a:spcPts val="800"/>
              </a:spcAft>
              <a:defRPr sz="1400">
                <a:solidFill>
                  <a:srgbClr val="1E2761"/>
                </a:solidFill>
                <a:latin typeface="Calibri"/>
              </a:defRPr>
              <a:buChar char="▸"/>
            </a:pPr>
            <a:r>
              <a:t>❌ Теряют пространственные детали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34747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Гибридные (наш подход)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761"/>
                </a:solidFill>
                <a:latin typeface="Calibri"/>
              </a:defRPr>
              <a:buChar char="▸"/>
            </a:pPr>
            <a:r>
              <a:t>Параллельные spatial + temporal ветви</a:t>
            </a:r>
          </a:p>
          <a:p>
            <a:pPr>
              <a:spcAft>
                <a:spcPts val="800"/>
              </a:spcAft>
              <a:defRPr sz="1400">
                <a:solidFill>
                  <a:srgbClr val="1E2761"/>
                </a:solidFill>
                <a:latin typeface="Calibri"/>
              </a:defRPr>
              <a:buChar char="▸"/>
            </a:pPr>
            <a:r>
              <a:t>Совместный анализ обоих типов артефактов</a:t>
            </a:r>
          </a:p>
          <a:p>
            <a:pPr>
              <a:spcAft>
                <a:spcPts val="800"/>
              </a:spcAft>
              <a:defRPr sz="1400">
                <a:solidFill>
                  <a:srgbClr val="1E2761"/>
                </a:solidFill>
                <a:latin typeface="Calibri"/>
              </a:defRPr>
              <a:buChar char="▸"/>
            </a:pPr>
            <a:r>
              <a:t>Adaptive fusion весов ветвей</a:t>
            </a:r>
          </a:p>
          <a:p>
            <a:pPr>
              <a:spcAft>
                <a:spcPts val="800"/>
              </a:spcAft>
              <a:defRPr sz="1400">
                <a:solidFill>
                  <a:srgbClr val="1E2761"/>
                </a:solidFill>
                <a:latin typeface="Calibri"/>
              </a:defRPr>
              <a:buChar char="▸"/>
            </a:pPr>
            <a:r>
              <a:t>✅ Полный пространственно-временной анализ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ПРЕДЛОЖЕННАЯ АРХИТЕКТУРА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029200" cy="54864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08EC6"/>
                </a:solidFill>
                <a:latin typeface="Calibri"/>
              </a:defRPr>
            </a:pPr>
            <a:r>
              <a:t>SPATIAL BRANCH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463040" cy="1188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t>Видеокадры</a:t>
            </a:r>
            <a:br/>
            <a:r>
              <a:t>[B,16,3,224,224]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011680"/>
            <a:ext cx="1463040" cy="1188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10312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t>EfficientNet-B4</a:t>
            </a:r>
            <a:br/>
            <a:r>
              <a:t>(frozen→unfreeze)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011680"/>
            <a:ext cx="1463040" cy="1188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210312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t>Mean Pool</a:t>
            </a:r>
            <a:br/>
            <a:r>
              <a:t>→ 512-dim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02920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TEMPORAL BRANCH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572000"/>
            <a:ext cx="1463040" cy="1188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66344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t>Frame Diffs</a:t>
            </a:r>
            <a:br/>
            <a:r>
              <a:t>[B,15,3,128,128]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4572000"/>
            <a:ext cx="1463040" cy="1188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466344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t>EfficientNet-B0</a:t>
            </a:r>
            <a:br/>
            <a:r>
              <a:t>+ Transformer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4572000"/>
            <a:ext cx="1463040" cy="1188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40" y="466344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t>CLS Token</a:t>
            </a:r>
            <a:br/>
            <a:r>
              <a:t>→ 512-dim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286000"/>
            <a:ext cx="2286000" cy="1828800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4688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Adaptive</a:t>
            </a:r>
            <a:br/>
            <a:r>
              <a:t>Weighted</a:t>
            </a:r>
            <a:br/>
            <a:r>
              <a:t>Fusion</a:t>
            </a:r>
            <a:br/>
            <a:br/>
            <a:r>
              <a:t>α₁·h_s + α₂·h_t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2286000"/>
            <a:ext cx="2286000" cy="1828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4688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Classification</a:t>
            </a:r>
            <a:br/>
            <a:r>
              <a:t>Head</a:t>
            </a:r>
            <a:br/>
            <a:br/>
            <a:r>
              <a:t>512→256→128→1</a:t>
            </a:r>
            <a:br/>
            <a:r>
              <a:t>BatchNorm + Dropout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2377440"/>
            <a:ext cx="548640" cy="54864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77840" y="4937760"/>
            <a:ext cx="54864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95360" y="3108960"/>
            <a:ext cx="457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ДАТАСЕТ И ПРЕДОБРАБОТКА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4864" cy="1371600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08EC6"/>
                </a:solidFill>
                <a:latin typeface="Calibri"/>
              </a:defRPr>
            </a:pPr>
            <a:r>
              <a:t>DFDC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0"/>
                </a:solidFill>
                <a:latin typeface="Calibri"/>
              </a:defRPr>
            </a:pPr>
            <a:r>
              <a:t>DeepFake Detection Challenge</a:t>
            </a:r>
            <a:br/>
            <a:r>
              <a:t>~3,300 видео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280160"/>
            <a:ext cx="32004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54864" cy="1371600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08EC6"/>
                </a:solidFill>
                <a:latin typeface="Calibri"/>
              </a:defRPr>
            </a:pPr>
            <a:r>
              <a:t>16 кадров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0"/>
                </a:solidFill>
                <a:latin typeface="Calibri"/>
              </a:defRPr>
            </a:pPr>
            <a:r>
              <a:t>Униформная выборка</a:t>
            </a:r>
            <a:br/>
            <a:r>
              <a:t>из каждого видео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280160"/>
            <a:ext cx="32004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54864" cy="1371600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08EC6"/>
                </a:solidFill>
                <a:latin typeface="Calibri"/>
              </a:defRPr>
            </a:pPr>
            <a:r>
              <a:t>70/15/15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0"/>
                </a:solidFill>
                <a:latin typeface="Calibri"/>
              </a:defRPr>
            </a:pPr>
            <a:r>
              <a:t>Train / Val / Test</a:t>
            </a:r>
            <a:br/>
            <a:r>
              <a:t>Video-level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  <a:latin typeface="Calibri"/>
              </a:defRPr>
            </a:pPr>
            <a:r>
              <a:t>Pipeline предобработки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2011680" cy="54864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94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761"/>
                </a:solidFill>
                <a:latin typeface="Calibri"/>
              </a:defRPr>
            </a:pPr>
            <a:r>
              <a:t>MTCNN</a:t>
            </a:r>
            <a:br/>
            <a:r>
              <a:t>Face Detection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657600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657600"/>
            <a:ext cx="2011680" cy="54864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3794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761"/>
                </a:solidFill>
                <a:latin typeface="Calibri"/>
              </a:defRPr>
            </a:pPr>
            <a:r>
              <a:t>Crop + Margin</a:t>
            </a:r>
            <a:br/>
            <a:r>
              <a:t>(20%)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3657600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3657600"/>
            <a:ext cx="2011680" cy="54864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3794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761"/>
                </a:solidFill>
                <a:latin typeface="Calibri"/>
              </a:defRPr>
            </a:pPr>
            <a:r>
              <a:t>Resize</a:t>
            </a:r>
            <a:br/>
            <a:r>
              <a:t>112×112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3657600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3657600"/>
            <a:ext cx="2011680" cy="54864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794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761"/>
                </a:solidFill>
                <a:latin typeface="Calibri"/>
              </a:defRPr>
            </a:pPr>
            <a:r>
              <a:t>16 Frames</a:t>
            </a:r>
            <a:br/>
            <a:r>
              <a:t>Uniform Sample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3657600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3657600"/>
            <a:ext cx="2011680" cy="54864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3794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761"/>
                </a:solidFill>
                <a:latin typeface="Calibri"/>
              </a:defRPr>
            </a:pPr>
            <a:r>
              <a:t>Clip-Consistent</a:t>
            </a:r>
            <a:br/>
            <a:r>
              <a:t>Augmentation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0"/>
                </a:solidFill>
                <a:latin typeface="Calibri"/>
              </a:defRPr>
            </a:pPr>
            <a:r>
              <a:t>Аугментация: HorizontalFlip, Brightness/Contrast ±0.1, JPEG compression (p=0.3)</a:t>
            </a:r>
            <a:br/>
            <a:r>
              <a:t>Нормализация: ImageNet stats (spatial), per-clip z-score (temporal)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ЭКСПЕРИМЕНТЫ: ABLATION STUDY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1188720"/>
                <a:gridCol w="137160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Эксперимент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 ↑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EER ↓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A1 (proposed)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Dual-Path + Adaptive Fusion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Spatial-only (EfficientNet-B4)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Temporal-only (EfficientNet-B0 + Transformer)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A4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Sequential (CNN → BiLSTM)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0"/>
                </a:solidFill>
                <a:latin typeface="Calibri"/>
              </a:defRPr>
            </a:pPr>
            <a:r>
              <a:t>⚠ Результаты будут заполнены после завершения 30-эпохального обучения.</a:t>
            </a:r>
            <a:br/>
            <a:r>
              <a:t>Метрики вычисляются на held-out test set (15% данных, video-level split).</a:t>
            </a:r>
            <a:br/>
            <a:br/>
            <a:r>
              <a:t>Гиперпараметры: batch_size=8, lr_head=3e-4, lr_backbone=1e-4,</a:t>
            </a:r>
            <a:br/>
            <a:r>
              <a:t>warmup=5 эпох (frozen backbone), patience=5 (early stopping по AUC)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РЕЗУЛЬТАТЫ ЭКСПЕРИМЕНТОВ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035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45720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080"/>
                </a:solidFill>
                <a:latin typeface="Calibri"/>
              </a:defRPr>
            </a:pPr>
            <a:r>
              <a:t>[ Loss Curves ]</a:t>
            </a:r>
            <a:br/>
            <a:r>
              <a:t>Вставить график после экспериментов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3035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45720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080"/>
                </a:solidFill>
                <a:latin typeface="Calibri"/>
              </a:defRPr>
            </a:pPr>
            <a:r>
              <a:t>[ Validation AUC ]</a:t>
            </a:r>
            <a:br/>
            <a:r>
              <a:t>Вставить график после экспериментов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3035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5303520" cy="45720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080"/>
                </a:solidFill>
                <a:latin typeface="Calibri"/>
              </a:defRPr>
            </a:pPr>
            <a:r>
              <a:t>[ ROC Curve ]</a:t>
            </a:r>
            <a:br/>
            <a:r>
              <a:t>Вставить график после экспериментов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3035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931920"/>
            <a:ext cx="5303520" cy="45720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6634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080"/>
                </a:solidFill>
                <a:latin typeface="Calibri"/>
              </a:defRPr>
            </a:pPr>
            <a:r>
              <a:t>[ Confusion Matrix ]</a:t>
            </a:r>
            <a:br/>
            <a:r>
              <a:t>Вставить график после экспериментов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MVP: ВЕБ-ПРИЛОЖЕНИЕ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  <a:latin typeface="Calibri"/>
              </a:defRPr>
            </a:pPr>
            <a:r>
              <a:t>Возможности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761"/>
                </a:solidFill>
                <a:latin typeface="Calibri"/>
              </a:defRPr>
              <a:buChar char="▸"/>
            </a:pPr>
            <a:r>
              <a:t>Flask веб-приложение (порт 7860)</a:t>
            </a:r>
          </a:p>
          <a:p>
            <a:pPr>
              <a:spcAft>
                <a:spcPts val="800"/>
              </a:spcAft>
              <a:defRPr sz="1500">
                <a:solidFill>
                  <a:srgbClr val="1E2761"/>
                </a:solidFill>
                <a:latin typeface="Calibri"/>
              </a:defRPr>
              <a:buChar char="▸"/>
            </a:pPr>
            <a:r>
              <a:t>Загрузка видео через браузер (до 300 MB)</a:t>
            </a:r>
          </a:p>
          <a:p>
            <a:pPr>
              <a:spcAft>
                <a:spcPts val="800"/>
              </a:spcAft>
              <a:defRPr sz="1500">
                <a:solidFill>
                  <a:srgbClr val="1E2761"/>
                </a:solidFill>
                <a:latin typeface="Calibri"/>
              </a:defRPr>
              <a:buChar char="▸"/>
            </a:pPr>
            <a:r>
              <a:t>Автоматическое извлечение лиц (MTCNN)</a:t>
            </a:r>
          </a:p>
          <a:p>
            <a:pPr>
              <a:spcAft>
                <a:spcPts val="800"/>
              </a:spcAft>
              <a:defRPr sz="1500">
                <a:solidFill>
                  <a:srgbClr val="1E2761"/>
                </a:solidFill>
                <a:latin typeface="Calibri"/>
              </a:defRPr>
              <a:buChar char="▸"/>
            </a:pPr>
            <a:r>
              <a:t>Video-level inference с визуализацией</a:t>
            </a:r>
          </a:p>
          <a:p>
            <a:pPr>
              <a:spcAft>
                <a:spcPts val="800"/>
              </a:spcAft>
              <a:defRPr sz="1500">
                <a:solidFill>
                  <a:srgbClr val="1E2761"/>
                </a:solidFill>
                <a:latin typeface="Calibri"/>
              </a:defRPr>
              <a:buChar char="▸"/>
            </a:pPr>
            <a:r>
              <a:t>JSON-результат с probability и fusion weights</a:t>
            </a:r>
          </a:p>
          <a:p>
            <a:pPr>
              <a:spcAft>
                <a:spcPts val="800"/>
              </a:spcAft>
              <a:defRPr sz="1500">
                <a:solidFill>
                  <a:srgbClr val="1E2761"/>
                </a:solidFill>
                <a:latin typeface="Calibri"/>
              </a:defRPr>
              <a:buChar char="▸"/>
            </a:pPr>
            <a:r>
              <a:t>Мультиязычный интерфейс (RU/EN)</a:t>
            </a:r>
          </a:p>
          <a:p>
            <a:pPr>
              <a:spcAft>
                <a:spcPts val="800"/>
              </a:spcAft>
              <a:defRPr sz="1500">
                <a:solidFill>
                  <a:srgbClr val="1E2761"/>
                </a:solidFill>
                <a:latin typeface="Calibri"/>
              </a:defRPr>
              <a:buChar char="▸"/>
            </a:pPr>
            <a:r>
              <a:t>Docker-контейнеризация для деплоя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029200" cy="54864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8EC6"/>
                </a:solidFill>
                <a:latin typeface="Calibri"/>
              </a:defRPr>
            </a:pPr>
            <a:r>
              <a:t>Стек технологий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761"/>
                </a:solidFill>
                <a:latin typeface="Calibri"/>
              </a:defRPr>
              <a:buChar char="▸"/>
            </a:pPr>
            <a:r>
              <a:t>Backend:  Python 3.12, Flask, PyTorch</a:t>
            </a:r>
          </a:p>
          <a:p>
            <a:pPr>
              <a:spcAft>
                <a:spcPts val="800"/>
              </a:spcAft>
              <a:defRPr sz="1400">
                <a:solidFill>
                  <a:srgbClr val="1E2761"/>
                </a:solidFill>
                <a:latin typeface="Calibri"/>
              </a:defRPr>
              <a:buChar char="▸"/>
            </a:pPr>
            <a:r>
              <a:t>Models:   EfficientNet (timm), Transformer</a:t>
            </a:r>
          </a:p>
          <a:p>
            <a:pPr>
              <a:spcAft>
                <a:spcPts val="800"/>
              </a:spcAft>
              <a:defRPr sz="1400">
                <a:solidFill>
                  <a:srgbClr val="1E2761"/>
                </a:solidFill>
                <a:latin typeface="Calibri"/>
              </a:defRPr>
              <a:buChar char="▸"/>
            </a:pPr>
            <a:r>
              <a:t>Face Det: MTCNN (facenet-pytorch)</a:t>
            </a:r>
          </a:p>
          <a:p>
            <a:pPr>
              <a:spcAft>
                <a:spcPts val="800"/>
              </a:spcAft>
              <a:defRPr sz="1400">
                <a:solidFill>
                  <a:srgbClr val="1E2761"/>
                </a:solidFill>
                <a:latin typeface="Calibri"/>
              </a:defRPr>
              <a:buChar char="▸"/>
            </a:pPr>
            <a:r>
              <a:t>Frontend: HTML/CSS/JS (inline)</a:t>
            </a:r>
          </a:p>
          <a:p>
            <a:pPr>
              <a:spcAft>
                <a:spcPts val="800"/>
              </a:spcAft>
              <a:defRPr sz="1400">
                <a:solidFill>
                  <a:srgbClr val="1E2761"/>
                </a:solidFill>
                <a:latin typeface="Calibri"/>
              </a:defRPr>
              <a:buChar char="▸"/>
            </a:pPr>
            <a:r>
              <a:t>Deploy:   Docker, python:3.12-slim</a:t>
            </a:r>
          </a:p>
          <a:p>
            <a:pPr>
              <a:spcAft>
                <a:spcPts val="800"/>
              </a:spcAft>
              <a:defRPr sz="1400">
                <a:solidFill>
                  <a:srgbClr val="1E2761"/>
                </a:solidFill>
                <a:latin typeface="Calibri"/>
              </a:defRPr>
              <a:buChar char="▸"/>
            </a:pPr>
            <a:r>
              <a:t>Device:   CPU / CUDA / MPS (Apple Silicon)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5029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080"/>
                </a:solidFill>
                <a:latin typeface="Calibri"/>
              </a:defRPr>
            </a:pPr>
            <a:r>
              <a:t>[ Скриншот MVP ]</a:t>
            </a:r>
            <a:br/>
            <a:r>
              <a:t>Вставить скриншот веб-интерфейса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  <a:latin typeface="Calibri"/>
              </a:defRPr>
            </a:pPr>
            <a:r>
              <a:t>Основные 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761"/>
                </a:solidFill>
                <a:latin typeface="Calibri"/>
              </a:defRPr>
              <a:buChar char="▸"/>
            </a:pPr>
            <a:r>
              <a:t>Разработана dual-path архитектура для пространственно-временного анализа</a:t>
            </a:r>
          </a:p>
          <a:p>
            <a:pPr>
              <a:spcAft>
                <a:spcPts val="800"/>
              </a:spcAft>
              <a:defRPr sz="1500">
                <a:solidFill>
                  <a:srgbClr val="1E2761"/>
                </a:solidFill>
                <a:latin typeface="Calibri"/>
              </a:defRPr>
              <a:buChar char="▸"/>
            </a:pPr>
            <a:r>
              <a:t>Реализован полный pipeline от предобработки до инференса</a:t>
            </a:r>
          </a:p>
          <a:p>
            <a:pPr>
              <a:spcAft>
                <a:spcPts val="800"/>
              </a:spcAft>
              <a:defRPr sz="1500">
                <a:solidFill>
                  <a:srgbClr val="1E2761"/>
                </a:solidFill>
                <a:latin typeface="Calibri"/>
              </a:defRPr>
              <a:buChar char="▸"/>
            </a:pPr>
            <a:r>
              <a:t>Проведён ablation study (4 эксперимента) для валидации решений</a:t>
            </a:r>
          </a:p>
          <a:p>
            <a:pPr>
              <a:spcAft>
                <a:spcPts val="800"/>
              </a:spcAft>
              <a:defRPr sz="1500">
                <a:solidFill>
                  <a:srgbClr val="1E2761"/>
                </a:solidFill>
                <a:latin typeface="Calibri"/>
              </a:defRPr>
              <a:buChar char="▸"/>
            </a:pPr>
            <a:r>
              <a:t>Создано MVP веб-приложение с Docker-контейнеризацией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  <a:latin typeface="Calibri"/>
              </a:defRPr>
            </a:pPr>
            <a:r>
              <a:t>Направления развития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761"/>
                </a:solidFill>
                <a:latin typeface="Calibri"/>
              </a:defRPr>
              <a:buChar char="▸"/>
            </a:pPr>
            <a:r>
              <a:t>Расширение на мультимодальный анализ (аудио + видео)</a:t>
            </a:r>
          </a:p>
          <a:p>
            <a:pPr>
              <a:spcAft>
                <a:spcPts val="800"/>
              </a:spcAft>
              <a:defRPr sz="1500">
                <a:solidFill>
                  <a:srgbClr val="1E2761"/>
                </a:solidFill>
                <a:latin typeface="Calibri"/>
              </a:defRPr>
              <a:buChar char="▸"/>
            </a:pPr>
            <a:r>
              <a:t>Attention-based pooling вместо mean pooling</a:t>
            </a:r>
          </a:p>
          <a:p>
            <a:pPr>
              <a:spcAft>
                <a:spcPts val="800"/>
              </a:spcAft>
              <a:defRPr sz="1500">
                <a:solidFill>
                  <a:srgbClr val="1E2761"/>
                </a:solidFill>
                <a:latin typeface="Calibri"/>
              </a:defRPr>
              <a:buChar char="▸"/>
            </a:pPr>
            <a:r>
              <a:t>Cross-dataset evaluation (CelebDF, FaceForensics++)</a:t>
            </a:r>
          </a:p>
          <a:p>
            <a:pPr>
              <a:spcAft>
                <a:spcPts val="800"/>
              </a:spcAft>
              <a:defRPr sz="1500">
                <a:solidFill>
                  <a:srgbClr val="1E2761"/>
                </a:solidFill>
                <a:latin typeface="Calibri"/>
              </a:defRPr>
              <a:buChar char="▸"/>
            </a:pPr>
            <a:r>
              <a:t>Real-time processing для видеопотоков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474720"/>
            <a:ext cx="2743200" cy="36576"/>
          </a:xfrm>
          <a:prstGeom prst="rect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ADCFC"/>
                </a:solidFill>
                <a:latin typeface="Calibri"/>
              </a:defRPr>
            </a:pPr>
            <a:r>
              <a:t>Готов ответить на вопросы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080"/>
                </a:solidFill>
                <a:latin typeface="Calibri"/>
              </a:defRPr>
            </a:pPr>
            <a:r>
              <a:t>НИЯУ МИФИ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